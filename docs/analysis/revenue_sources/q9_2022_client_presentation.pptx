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800" b="1">
                <a:solidFill>
                  <a:srgbClr val="FFFFFF"/>
                </a:solidFill>
              </a:defRPr>
            </a:pPr>
            <a:r>
              <a:t>Q9 2022 Client Presentation</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p>
        </p:txBody>
      </p:sp>
      <p:sp>
        <p:nvSpPr>
          <p:cNvPr id="5" name="TextBox 4"/>
          <p:cNvSpPr txBox="1"/>
          <p:nvPr/>
        </p:nvSpPr>
        <p:spPr>
          <a:xfrm>
            <a:off x="1097280" y="2286000"/>
            <a:ext cx="9966960" cy="1645920"/>
          </a:xfrm>
          <a:prstGeom prst="rect">
            <a:avLst/>
          </a:prstGeom>
          <a:noFill/>
        </p:spPr>
        <p:txBody>
          <a:bodyPr wrap="none">
            <a:spAutoFit/>
          </a:bodyPr>
          <a:lstStyle/>
          <a:p>
            <a:pPr algn="ctr">
              <a:defRPr sz="3400" b="1">
                <a:solidFill>
                  <a:srgbClr val="1F3A5F"/>
                </a:solidFill>
              </a:defRPr>
            </a:pPr>
            <a:r>
              <a:t>Q9 2022 Client Presentation</a:t>
            </a:r>
          </a:p>
          <a:p>
            <a:pPr algn="ctr">
              <a:defRPr sz="1700">
                <a:solidFill>
                  <a:srgbClr val="2E6B9E"/>
                </a:solidFill>
              </a:defRPr>
            </a:pPr>
            <a:r>
              <a:t>Revenue sources — Black Hills vs benchmark regions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Dataset and revenue source variables</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1</a:t>
            </a:r>
          </a:p>
        </p:txBody>
      </p:sp>
      <p:sp>
        <p:nvSpPr>
          <p:cNvPr id="5" name="TextBox 4"/>
          <p:cNvSpPr txBox="1"/>
          <p:nvPr/>
        </p:nvSpPr>
        <p:spPr>
          <a:xfrm>
            <a:off x="457200" y="960120"/>
            <a:ext cx="11277295" cy="256032"/>
          </a:xfrm>
          <a:prstGeom prst="rect">
            <a:avLst/>
          </a:prstGeom>
          <a:noFill/>
        </p:spPr>
        <p:txBody>
          <a:bodyPr wrap="square" anchor="t">
            <a:noAutofit/>
          </a:bodyPr>
          <a:lstStyle/>
          <a:p>
            <a:pPr>
              <a:defRPr sz="1100" b="1">
                <a:solidFill>
                  <a:srgbClr val="333333"/>
                </a:solidFill>
              </a:defRPr>
            </a:pPr>
            <a:r>
              <a:t>Dataset</a:t>
            </a:r>
          </a:p>
        </p:txBody>
      </p:sp>
      <p:sp>
        <p:nvSpPr>
          <p:cNvPr id="6" name="TextBox 5"/>
          <p:cNvSpPr txBox="1"/>
          <p:nvPr/>
        </p:nvSpPr>
        <p:spPr>
          <a:xfrm>
            <a:off x="457200" y="1261872"/>
            <a:ext cx="11277295" cy="256032"/>
          </a:xfrm>
          <a:prstGeom prst="rect">
            <a:avLst/>
          </a:prstGeom>
          <a:noFill/>
        </p:spPr>
        <p:txBody>
          <a:bodyPr wrap="square" anchor="t">
            <a:noAutofit/>
          </a:bodyPr>
          <a:lstStyle/>
          <a:p>
            <a:pPr>
              <a:defRPr sz="800" b="0">
                <a:solidFill>
                  <a:srgbClr val="333333"/>
                </a:solidFill>
              </a:defRPr>
            </a:pPr>
            <a:r>
              <a:t>This presentation uses the GivingTuesday Form 990-family analysis file for the Black Hills and benchmark-region nonprofit comparison.</a:t>
            </a:r>
          </a:p>
        </p:txBody>
      </p:sp>
      <p:sp>
        <p:nvSpPr>
          <p:cNvPr id="7" name="TextBox 6"/>
          <p:cNvSpPr txBox="1"/>
          <p:nvPr/>
        </p:nvSpPr>
        <p:spPr>
          <a:xfrm>
            <a:off x="457200" y="1563624"/>
            <a:ext cx="11277295" cy="256032"/>
          </a:xfrm>
          <a:prstGeom prst="rect">
            <a:avLst/>
          </a:prstGeom>
          <a:noFill/>
        </p:spPr>
        <p:txBody>
          <a:bodyPr wrap="square" anchor="t">
            <a:noAutofit/>
          </a:bodyPr>
          <a:lstStyle/>
          <a:p>
            <a:pPr>
              <a:defRPr sz="800" b="0">
                <a:solidFill>
                  <a:srgbClr val="333333"/>
                </a:solidFill>
              </a:defRPr>
            </a:pPr>
            <a:r>
              <a:t>• Tax year: 2022 only.</a:t>
            </a:r>
          </a:p>
        </p:txBody>
      </p:sp>
      <p:sp>
        <p:nvSpPr>
          <p:cNvPr id="8" name="TextBox 7"/>
          <p:cNvSpPr txBox="1"/>
          <p:nvPr/>
        </p:nvSpPr>
        <p:spPr>
          <a:xfrm>
            <a:off x="457200" y="1842516"/>
            <a:ext cx="11277295" cy="256032"/>
          </a:xfrm>
          <a:prstGeom prst="rect">
            <a:avLst/>
          </a:prstGeom>
          <a:noFill/>
        </p:spPr>
        <p:txBody>
          <a:bodyPr wrap="square" anchor="t">
            <a:noAutofit/>
          </a:bodyPr>
          <a:lstStyle/>
          <a:p>
            <a:pPr>
              <a:defRPr sz="800" b="0">
                <a:solidFill>
                  <a:srgbClr val="333333"/>
                </a:solidFill>
              </a:defRPr>
            </a:pPr>
            <a:r>
              <a:t>• Forms included: Form 990 (1,085 rows), Form 990-EZ (563 rows), and Form 990-PF (151 rows).</a:t>
            </a:r>
          </a:p>
        </p:txBody>
      </p:sp>
      <p:sp>
        <p:nvSpPr>
          <p:cNvPr id="9" name="TextBox 8"/>
          <p:cNvSpPr txBox="1"/>
          <p:nvPr/>
        </p:nvSpPr>
        <p:spPr>
          <a:xfrm>
            <a:off x="457200" y="2121408"/>
            <a:ext cx="11277295" cy="256032"/>
          </a:xfrm>
          <a:prstGeom prst="rect">
            <a:avLst/>
          </a:prstGeom>
          <a:noFill/>
        </p:spPr>
        <p:txBody>
          <a:bodyPr wrap="square" anchor="t">
            <a:noAutofit/>
          </a:bodyPr>
          <a:lstStyle/>
          <a:p>
            <a:pPr>
              <a:defRPr sz="800" b="0">
                <a:solidFill>
                  <a:srgbClr val="333333"/>
                </a:solidFill>
              </a:defRPr>
            </a:pPr>
            <a:r>
              <a:t>• Analysis universe: 1,799 organization-year records representing 1,797 unique EINs after requiring positive total revenue.</a:t>
            </a:r>
          </a:p>
        </p:txBody>
      </p:sp>
      <p:sp>
        <p:nvSpPr>
          <p:cNvPr id="10" name="TextBox 9"/>
          <p:cNvSpPr txBox="1"/>
          <p:nvPr/>
        </p:nvSpPr>
        <p:spPr>
          <a:xfrm>
            <a:off x="457200" y="2400300"/>
            <a:ext cx="11277295" cy="256032"/>
          </a:xfrm>
          <a:prstGeom prst="rect">
            <a:avLst/>
          </a:prstGeom>
          <a:noFill/>
        </p:spPr>
        <p:txBody>
          <a:bodyPr wrap="square" anchor="t">
            <a:noAutofit/>
          </a:bodyPr>
          <a:lstStyle/>
          <a:p>
            <a:pPr>
              <a:defRPr sz="800" b="0">
                <a:solidFill>
                  <a:srgbClr val="333333"/>
                </a:solidFill>
              </a:defRPr>
            </a:pPr>
            <a:r>
              <a:t>• Exclusions: hospitals, universities, and political organizations are excluded for client-peer comparability; excluded rows in the full selected-year frame: 25.</a:t>
            </a:r>
          </a:p>
        </p:txBody>
      </p:sp>
      <p:sp>
        <p:nvSpPr>
          <p:cNvPr id="11" name="TextBox 10"/>
          <p:cNvSpPr txBox="1"/>
          <p:nvPr/>
        </p:nvSpPr>
        <p:spPr>
          <a:xfrm>
            <a:off x="457200" y="2679192"/>
            <a:ext cx="11277295" cy="256032"/>
          </a:xfrm>
          <a:prstGeom prst="rect">
            <a:avLst/>
          </a:prstGeom>
          <a:noFill/>
        </p:spPr>
        <p:txBody>
          <a:bodyPr wrap="square" anchor="t">
            <a:noAutofit/>
          </a:bodyPr>
          <a:lstStyle/>
          <a:p>
            <a:pPr>
              <a:defRPr sz="800" b="0">
                <a:solidFill>
                  <a:srgbClr val="333333"/>
                </a:solidFill>
              </a:defRPr>
            </a:pPr>
            <a:r>
              <a:t>• Statistical tests compare organization-level 2022 raw dollar values, not regional aggregate totals or stacked-bar percentages.</a:t>
            </a:r>
          </a:p>
        </p:txBody>
      </p:sp>
      <p:sp>
        <p:nvSpPr>
          <p:cNvPr id="12" name="TextBox 11"/>
          <p:cNvSpPr txBox="1"/>
          <p:nvPr/>
        </p:nvSpPr>
        <p:spPr>
          <a:xfrm>
            <a:off x="457200" y="3049524"/>
            <a:ext cx="11277295" cy="256032"/>
          </a:xfrm>
          <a:prstGeom prst="rect">
            <a:avLst/>
          </a:prstGeom>
          <a:noFill/>
        </p:spPr>
        <p:txBody>
          <a:bodyPr wrap="square" anchor="t">
            <a:noAutofit/>
          </a:bodyPr>
          <a:lstStyle/>
          <a:p>
            <a:pPr>
              <a:defRPr sz="1100" b="1">
                <a:solidFill>
                  <a:srgbClr val="333333"/>
                </a:solidFill>
              </a:defRPr>
            </a:pPr>
            <a:r>
              <a:t>Variable definitions</a:t>
            </a:r>
          </a:p>
        </p:txBody>
      </p:sp>
      <p:sp>
        <p:nvSpPr>
          <p:cNvPr id="13" name="TextBox 12"/>
          <p:cNvSpPr txBox="1"/>
          <p:nvPr/>
        </p:nvSpPr>
        <p:spPr>
          <a:xfrm>
            <a:off x="457200" y="3351276"/>
            <a:ext cx="11277295" cy="274320"/>
          </a:xfrm>
          <a:prstGeom prst="rect">
            <a:avLst/>
          </a:prstGeom>
          <a:noFill/>
        </p:spPr>
        <p:txBody>
          <a:bodyPr wrap="square" anchor="t">
            <a:noAutofit/>
          </a:bodyPr>
          <a:lstStyle/>
          <a:p>
            <a:pPr>
              <a:defRPr sz="800" b="0">
                <a:solidFill>
                  <a:srgbClr val="333333"/>
                </a:solidFill>
              </a:defRPr>
            </a:pPr>
            <a:r>
              <a:t>The analysis partitions revenue into earned program revenue, contribution-source categories, mixed/unclassified contributions, and other revenue. The detailed contribution-source categories are clean only for Form 990 filers.</a:t>
            </a:r>
          </a:p>
        </p:txBody>
      </p:sp>
      <p:graphicFrame>
        <p:nvGraphicFramePr>
          <p:cNvPr id="14" name="Table 13"/>
          <p:cNvGraphicFramePr>
            <a:graphicFrameLocks noGrp="1"/>
          </p:cNvGraphicFramePr>
          <p:nvPr/>
        </p:nvGraphicFramePr>
        <p:xfrm>
          <a:off x="457200" y="3671316"/>
          <a:ext cx="11277295" cy="1709928"/>
        </p:xfrm>
        <a:graphic>
          <a:graphicData uri="http://schemas.openxmlformats.org/drawingml/2006/table">
            <a:tbl>
              <a:tblPr firstRow="1" bandRow="1">
                <a:tableStyleId>{5C22544A-7EE6-4342-B048-85BDC9FD1C3A}</a:tableStyleId>
              </a:tblPr>
              <a:tblGrid>
                <a:gridCol w="1417320"/>
                <a:gridCol w="9859975"/>
              </a:tblGrid>
              <a:tr h="155448">
                <a:tc>
                  <a:txBody>
                    <a:bodyPr/>
                    <a:lstStyle/>
                    <a:p>
                      <a:pPr>
                        <a:defRPr sz="700" b="1">
                          <a:solidFill>
                            <a:srgbClr val="FFFFFF"/>
                          </a:solidFill>
                        </a:defRPr>
                      </a:pPr>
                      <a:r>
                        <a:t>Variable</a:t>
                      </a:r>
                    </a:p>
                  </a:txBody>
                  <a:tcPr anchor="ctr" marL="27432" marR="27432" marT="9144" marB="9144">
                    <a:solidFill>
                      <a:srgbClr val="2E6B9E"/>
                    </a:solidFill>
                  </a:tcPr>
                </a:tc>
                <a:tc>
                  <a:txBody>
                    <a:bodyPr/>
                    <a:lstStyle/>
                    <a:p>
                      <a:pPr>
                        <a:defRPr sz="700" b="1">
                          <a:solidFill>
                            <a:srgbClr val="FFFFFF"/>
                          </a:solidFill>
                        </a:defRPr>
                      </a:pPr>
                      <a:r>
                        <a:t>Meaning</a:t>
                      </a:r>
                    </a:p>
                  </a:txBody>
                  <a:tcPr anchor="ctr" marL="27432" marR="27432" marT="9144" marB="9144">
                    <a:solidFill>
                      <a:srgbClr val="2E6B9E"/>
                    </a:solidFill>
                  </a:tcPr>
                </a:tc>
              </a:tr>
              <a:tr h="155448">
                <a:tc>
                  <a:txBody>
                    <a:bodyPr/>
                    <a:lstStyle/>
                    <a:p>
                      <a:pPr>
                        <a:defRPr sz="700">
                          <a:solidFill>
                            <a:srgbClr val="333333"/>
                          </a:solidFill>
                        </a:defRPr>
                      </a:pPr>
                      <a:r>
                        <a:t>Total revenue</a:t>
                      </a:r>
                    </a:p>
                  </a:txBody>
                  <a:tcPr anchor="ctr" marL="27432" marR="27432" marT="9144" marB="9144"/>
                </a:tc>
                <a:tc>
                  <a:txBody>
                    <a:bodyPr/>
                    <a:lstStyle/>
                    <a:p>
                      <a:pPr>
                        <a:defRPr sz="700">
                          <a:solidFill>
                            <a:srgbClr val="333333"/>
                          </a:solidFill>
                        </a:defRPr>
                      </a:pPr>
                      <a:r>
                        <a:t>All reported revenue for the organization in tax year 2022.</a:t>
                      </a:r>
                    </a:p>
                  </a:txBody>
                  <a:tcPr anchor="ctr" marL="27432" marR="27432" marT="9144" marB="9144"/>
                </a:tc>
              </a:tr>
              <a:tr h="155448">
                <a:tc>
                  <a:txBody>
                    <a:bodyPr/>
                    <a:lstStyle/>
                    <a:p>
                      <a:pPr>
                        <a:defRPr sz="700">
                          <a:solidFill>
                            <a:srgbClr val="333333"/>
                          </a:solidFill>
                        </a:defRPr>
                      </a:pPr>
                      <a:r>
                        <a:t>Program service revenue</a:t>
                      </a:r>
                    </a:p>
                  </a:txBody>
                  <a:tcPr anchor="ctr" marL="27432" marR="27432" marT="9144" marB="9144"/>
                </a:tc>
                <a:tc>
                  <a:txBody>
                    <a:bodyPr/>
                    <a:lstStyle/>
                    <a:p>
                      <a:pPr>
                        <a:defRPr sz="700">
                          <a:solidFill>
                            <a:srgbClr val="333333"/>
                          </a:solidFill>
                        </a:defRPr>
                      </a:pPr>
                      <a:r>
                        <a:t>Mission-related earned revenue from program services; available for Form 990 and 990-EZ, while Form 990-PF lacks the same comparable field. Blank supported lines are treated as zero.</a:t>
                      </a:r>
                    </a:p>
                  </a:txBody>
                  <a:tcPr anchor="ctr" marL="27432" marR="27432" marT="9144" marB="9144"/>
                </a:tc>
              </a:tr>
              <a:tr h="155448">
                <a:tc>
                  <a:txBody>
                    <a:bodyPr/>
                    <a:lstStyle/>
                    <a:p>
                      <a:pPr>
                        <a:defRPr sz="700">
                          <a:solidFill>
                            <a:srgbClr val="333333"/>
                          </a:solidFill>
                        </a:defRPr>
                      </a:pPr>
                      <a:r>
                        <a:t>Total contributions</a:t>
                      </a:r>
                    </a:p>
                  </a:txBody>
                  <a:tcPr anchor="ctr" marL="27432" marR="27432" marT="9144" marB="9144"/>
                </a:tc>
                <a:tc>
                  <a:txBody>
                    <a:bodyPr/>
                    <a:lstStyle/>
                    <a:p>
                      <a:pPr>
                        <a:defRPr sz="700">
                          <a:solidFill>
                            <a:srgbClr val="333333"/>
                          </a:solidFill>
                        </a:defRPr>
                      </a:pPr>
                      <a:r>
                        <a:t>Total reported contributions, gifts, grants, and similar amounts across the 990-family forms. Blank supported lines are treated as zero.</a:t>
                      </a:r>
                    </a:p>
                  </a:txBody>
                  <a:tcPr anchor="ctr" marL="27432" marR="27432" marT="9144" marB="9144"/>
                </a:tc>
              </a:tr>
              <a:tr h="155448">
                <a:tc>
                  <a:txBody>
                    <a:bodyPr/>
                    <a:lstStyle/>
                    <a:p>
                      <a:pPr>
                        <a:defRPr sz="700">
                          <a:solidFill>
                            <a:srgbClr val="333333"/>
                          </a:solidFill>
                        </a:defRPr>
                      </a:pPr>
                      <a:r>
                        <a:t>Government grants received</a:t>
                      </a:r>
                    </a:p>
                  </a:txBody>
                  <a:tcPr anchor="ctr" marL="27432" marR="27432" marT="9144" marB="9144"/>
                </a:tc>
                <a:tc>
                  <a:txBody>
                    <a:bodyPr/>
                    <a:lstStyle/>
                    <a:p>
                      <a:pPr>
                        <a:defRPr sz="700">
                          <a:solidFill>
                            <a:srgbClr val="333333"/>
                          </a:solidFill>
                        </a:defRPr>
                      </a:pPr>
                      <a:r>
                        <a:t>Form 990 Part VIII Line 1e government grants; 990-EZ/PF are excluded for this subcomponent because they do not expose it cleanly.</a:t>
                      </a:r>
                    </a:p>
                  </a:txBody>
                  <a:tcPr anchor="ctr" marL="27432" marR="27432" marT="9144" marB="9144"/>
                </a:tc>
              </a:tr>
              <a:tr h="155448">
                <a:tc>
                  <a:txBody>
                    <a:bodyPr/>
                    <a:lstStyle/>
                    <a:p>
                      <a:pPr>
                        <a:defRPr sz="700">
                          <a:solidFill>
                            <a:srgbClr val="333333"/>
                          </a:solidFill>
                        </a:defRPr>
                      </a:pPr>
                      <a:r>
                        <a:t>Federated campaign contributions</a:t>
                      </a:r>
                    </a:p>
                  </a:txBody>
                  <a:tcPr anchor="ctr" marL="27432" marR="27432" marT="9144" marB="9144"/>
                </a:tc>
                <a:tc>
                  <a:txBody>
                    <a:bodyPr/>
                    <a:lstStyle/>
                    <a:p>
                      <a:pPr>
                        <a:defRPr sz="700">
                          <a:solidFill>
                            <a:srgbClr val="333333"/>
                          </a:solidFill>
                        </a:defRPr>
                      </a:pPr>
                      <a:r>
                        <a:t>Form 990 Part VIII Line 1a federated campaign support, such as United Way-style campaign allocations.</a:t>
                      </a:r>
                    </a:p>
                  </a:txBody>
                  <a:tcPr anchor="ctr" marL="27432" marR="27432" marT="9144" marB="9144"/>
                </a:tc>
              </a:tr>
              <a:tr h="155448">
                <a:tc>
                  <a:txBody>
                    <a:bodyPr/>
                    <a:lstStyle/>
                    <a:p>
                      <a:pPr>
                        <a:defRPr sz="700">
                          <a:solidFill>
                            <a:srgbClr val="333333"/>
                          </a:solidFill>
                        </a:defRPr>
                      </a:pPr>
                      <a:r>
                        <a:t>Related organization contributions</a:t>
                      </a:r>
                    </a:p>
                  </a:txBody>
                  <a:tcPr anchor="ctr" marL="27432" marR="27432" marT="9144" marB="9144"/>
                </a:tc>
                <a:tc>
                  <a:txBody>
                    <a:bodyPr/>
                    <a:lstStyle/>
                    <a:p>
                      <a:pPr>
                        <a:defRPr sz="700">
                          <a:solidFill>
                            <a:srgbClr val="333333"/>
                          </a:solidFill>
                        </a:defRPr>
                      </a:pPr>
                      <a:r>
                        <a:t>Form 990 Part VIII Line 1d contributions from related organizations or affiliates.</a:t>
                      </a:r>
                    </a:p>
                  </a:txBody>
                  <a:tcPr anchor="ctr" marL="27432" marR="27432" marT="9144" marB="9144"/>
                </a:tc>
              </a:tr>
              <a:tr h="155448">
                <a:tc>
                  <a:txBody>
                    <a:bodyPr/>
                    <a:lstStyle/>
                    <a:p>
                      <a:pPr>
                        <a:defRPr sz="700">
                          <a:solidFill>
                            <a:srgbClr val="333333"/>
                          </a:solidFill>
                        </a:defRPr>
                      </a:pPr>
                      <a:r>
                        <a:t>Membership dues</a:t>
                      </a:r>
                    </a:p>
                  </a:txBody>
                  <a:tcPr anchor="ctr" marL="27432" marR="27432" marT="9144" marB="9144"/>
                </a:tc>
                <a:tc>
                  <a:txBody>
                    <a:bodyPr/>
                    <a:lstStyle/>
                    <a:p>
                      <a:pPr>
                        <a:defRPr sz="700">
                          <a:solidFill>
                            <a:srgbClr val="333333"/>
                          </a:solidFill>
                        </a:defRPr>
                      </a:pPr>
                      <a:r>
                        <a:t>Form 990 Part VIII Line 1b membership dues; an individual-adjacent proxy, not pure individual giving.</a:t>
                      </a:r>
                    </a:p>
                  </a:txBody>
                  <a:tcPr anchor="ctr" marL="27432" marR="27432" marT="9144" marB="9144"/>
                </a:tc>
              </a:tr>
              <a:tr h="155448">
                <a:tc>
                  <a:txBody>
                    <a:bodyPr/>
                    <a:lstStyle/>
                    <a:p>
                      <a:pPr>
                        <a:defRPr sz="700">
                          <a:solidFill>
                            <a:srgbClr val="333333"/>
                          </a:solidFill>
                        </a:defRPr>
                      </a:pPr>
                      <a:r>
                        <a:t>Fundraising event contributions</a:t>
                      </a:r>
                    </a:p>
                  </a:txBody>
                  <a:tcPr anchor="ctr" marL="27432" marR="27432" marT="9144" marB="9144"/>
                </a:tc>
                <a:tc>
                  <a:txBody>
                    <a:bodyPr/>
                    <a:lstStyle/>
                    <a:p>
                      <a:pPr>
                        <a:defRPr sz="700">
                          <a:solidFill>
                            <a:srgbClr val="333333"/>
                          </a:solidFill>
                        </a:defRPr>
                      </a:pPr>
                      <a:r>
                        <a:t>Form 990 Part VIII Line 1c fundraising event contributions; individual-adjacent, not pure individual giving.</a:t>
                      </a:r>
                    </a:p>
                  </a:txBody>
                  <a:tcPr anchor="ctr" marL="27432" marR="27432" marT="9144" marB="9144"/>
                </a:tc>
              </a:tr>
              <a:tr h="155448">
                <a:tc>
                  <a:txBody>
                    <a:bodyPr/>
                    <a:lstStyle/>
                    <a:p>
                      <a:pPr>
                        <a:defRPr sz="700">
                          <a:solidFill>
                            <a:srgbClr val="333333"/>
                          </a:solidFill>
                        </a:defRPr>
                      </a:pPr>
                      <a:r>
                        <a:t>Mixed / unclassified contributions</a:t>
                      </a:r>
                    </a:p>
                  </a:txBody>
                  <a:tcPr anchor="ctr" marL="27432" marR="27432" marT="9144" marB="9144"/>
                </a:tc>
                <a:tc>
                  <a:txBody>
                    <a:bodyPr/>
                    <a:lstStyle/>
                    <a:p>
                      <a:pPr>
                        <a:defRPr sz="700">
                          <a:solidFill>
                            <a:srgbClr val="333333"/>
                          </a:solidFill>
                        </a:defRPr>
                      </a:pPr>
                      <a:r>
                        <a:t>Form 990 Line 1f plus all 990-EZ/PF contribution totals that cannot be decomposed into source subcategories.</a:t>
                      </a:r>
                    </a:p>
                  </a:txBody>
                  <a:tcPr anchor="ctr" marL="27432" marR="27432" marT="9144" marB="9144"/>
                </a:tc>
              </a:tr>
              <a:tr h="155448">
                <a:tc>
                  <a:txBody>
                    <a:bodyPr/>
                    <a:lstStyle/>
                    <a:p>
                      <a:pPr>
                        <a:defRPr sz="700">
                          <a:solidFill>
                            <a:srgbClr val="333333"/>
                          </a:solidFill>
                        </a:defRPr>
                      </a:pPr>
                      <a:r>
                        <a:t>Other revenue</a:t>
                      </a:r>
                    </a:p>
                  </a:txBody>
                  <a:tcPr anchor="ctr" marL="27432" marR="27432" marT="9144" marB="9144"/>
                </a:tc>
                <a:tc>
                  <a:txBody>
                    <a:bodyPr/>
                    <a:lstStyle/>
                    <a:p>
                      <a:pPr>
                        <a:defRPr sz="700">
                          <a:solidFill>
                            <a:srgbClr val="333333"/>
                          </a:solidFill>
                        </a:defRPr>
                      </a:pPr>
                      <a:r>
                        <a:t>Other revenue, calculated as total revenue minus program revenue and the detailed contribution-source components.</a:t>
                      </a:r>
                    </a:p>
                  </a:txBody>
                  <a:tcPr anchor="ctr" marL="27432" marR="27432" marT="9144" marB="9144"/>
                </a:tc>
              </a:tr>
            </a:tbl>
          </a:graphicData>
        </a:graphic>
      </p:graphicFrame>
      <p:sp>
        <p:nvSpPr>
          <p:cNvPr id="15" name="TextBox 14"/>
          <p:cNvSpPr txBox="1"/>
          <p:nvPr/>
        </p:nvSpPr>
        <p:spPr>
          <a:xfrm>
            <a:off x="457200" y="5426964"/>
            <a:ext cx="11277295" cy="274320"/>
          </a:xfrm>
          <a:prstGeom prst="rect">
            <a:avLst/>
          </a:prstGeom>
          <a:noFill/>
        </p:spPr>
        <p:txBody>
          <a:bodyPr wrap="square" anchor="t">
            <a:noAutofit/>
          </a:bodyPr>
          <a:lstStyle/>
          <a:p>
            <a:pPr>
              <a:defRPr sz="800" b="0">
                <a:solidFill>
                  <a:srgbClr val="333333"/>
                </a:solidFill>
              </a:defRPr>
            </a:pPr>
            <a:r>
              <a:t>990-EZ and 990-PF do not expose the same contribution-source subcomponents as Form 990. For detailed subcomponent tests and median charts, those rows are excluded for the unavailable source rather than treated as zero. Their contribution totals are routed to mixed / unclassified contributions for the all-form revenue partition. Foundation grants cannot be cleanly isolated in this 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2022 revenue sources — overview (same metric as statistical slides)</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2</a:t>
            </a:r>
          </a:p>
        </p:txBody>
      </p:sp>
      <p:sp>
        <p:nvSpPr>
          <p:cNvPr id="5" name="TextBox 4"/>
          <p:cNvSpPr txBox="1"/>
          <p:nvPr/>
        </p:nvSpPr>
        <p:spPr>
          <a:xfrm>
            <a:off x="457200" y="960120"/>
            <a:ext cx="11277295" cy="342900"/>
          </a:xfrm>
          <a:prstGeom prst="rect">
            <a:avLst/>
          </a:prstGeom>
          <a:noFill/>
        </p:spPr>
        <p:txBody>
          <a:bodyPr wrap="square" anchor="t">
            <a:noAutofit/>
          </a:bodyPr>
          <a:lstStyle/>
          <a:p>
            <a:pPr>
              <a:defRPr sz="1000" b="0" i="0">
                <a:solidFill>
                  <a:srgbClr val="333333"/>
                </a:solidFill>
              </a:defRPr>
            </a:pPr>
            <a:r>
              <a:t>This chart uses the same definition as Slides 3–12: for each revenue source, the bar height is the median dollar amount among organizations in that region that report a positive value for that source (zeros excluded). Each small panel is one source; the five bars are the five regions.</a:t>
            </a:r>
          </a:p>
        </p:txBody>
      </p:sp>
      <p:sp>
        <p:nvSpPr>
          <p:cNvPr id="6" name="TextBox 5"/>
          <p:cNvSpPr txBox="1"/>
          <p:nvPr/>
        </p:nvSpPr>
        <p:spPr>
          <a:xfrm>
            <a:off x="566928" y="1394460"/>
            <a:ext cx="11167567" cy="256032"/>
          </a:xfrm>
          <a:prstGeom prst="rect">
            <a:avLst/>
          </a:prstGeom>
          <a:noFill/>
        </p:spPr>
        <p:txBody>
          <a:bodyPr wrap="square">
            <a:spAutoFit/>
          </a:bodyPr>
          <a:lstStyle/>
          <a:p>
            <a:pPr>
              <a:defRPr sz="1000">
                <a:solidFill>
                  <a:srgbClr val="333333"/>
                </a:solidFill>
              </a:defRPr>
            </a:pPr>
            <a:r>
              <a:t>• Purpose: Orientation — see all sources and regions on one page before the source-by-source pairwise slides.</a:t>
            </a:r>
          </a:p>
        </p:txBody>
      </p:sp>
      <p:sp>
        <p:nvSpPr>
          <p:cNvPr id="7" name="TextBox 6"/>
          <p:cNvSpPr txBox="1"/>
          <p:nvPr/>
        </p:nvSpPr>
        <p:spPr>
          <a:xfrm>
            <a:off x="566928" y="1741932"/>
            <a:ext cx="11167567" cy="342900"/>
          </a:xfrm>
          <a:prstGeom prst="rect">
            <a:avLst/>
          </a:prstGeom>
          <a:noFill/>
        </p:spPr>
        <p:txBody>
          <a:bodyPr wrap="square">
            <a:spAutoFit/>
          </a:bodyPr>
          <a:lstStyle/>
          <a:p>
            <a:pPr>
              <a:defRPr sz="1000">
                <a:solidFill>
                  <a:srgbClr val="333333"/>
                </a:solidFill>
              </a:defRPr>
            </a:pPr>
            <a:r>
              <a:t>• Aligned with tests: Slides 3–12 show the same positive-only medians with Black Hills vs each benchmark; permutation p-values are on the following slides' bullets and tables.</a:t>
            </a:r>
          </a:p>
        </p:txBody>
      </p:sp>
      <p:sp>
        <p:nvSpPr>
          <p:cNvPr id="8" name="TextBox 7"/>
          <p:cNvSpPr txBox="1"/>
          <p:nvPr/>
        </p:nvSpPr>
        <p:spPr>
          <a:xfrm>
            <a:off x="566928" y="2176272"/>
            <a:ext cx="11167567" cy="256032"/>
          </a:xfrm>
          <a:prstGeom prst="rect">
            <a:avLst/>
          </a:prstGeom>
          <a:noFill/>
        </p:spPr>
        <p:txBody>
          <a:bodyPr wrap="square">
            <a:spAutoFit/>
          </a:bodyPr>
          <a:lstStyle/>
          <a:p>
            <a:pPr>
              <a:defRPr sz="1000">
                <a:solidFill>
                  <a:srgbClr val="333333"/>
                </a:solidFill>
              </a:defRPr>
            </a:pPr>
            <a:r>
              <a:t>• Not stacked: Medians for different sources are not added together (each source has its own reporter pool).</a:t>
            </a:r>
          </a:p>
        </p:txBody>
      </p:sp>
      <p:sp>
        <p:nvSpPr>
          <p:cNvPr id="9" name="TextBox 8"/>
          <p:cNvSpPr txBox="1"/>
          <p:nvPr/>
        </p:nvSpPr>
        <p:spPr>
          <a:xfrm>
            <a:off x="566928" y="2523744"/>
            <a:ext cx="11167567" cy="514350"/>
          </a:xfrm>
          <a:prstGeom prst="rect">
            <a:avLst/>
          </a:prstGeom>
          <a:noFill/>
        </p:spPr>
        <p:txBody>
          <a:bodyPr wrap="square">
            <a:spAutoFit/>
          </a:bodyPr>
          <a:lstStyle/>
          <a:p>
            <a:pPr>
              <a:defRPr sz="1000">
                <a:solidFill>
                  <a:srgbClr val="333333"/>
                </a:solidFill>
              </a:defRPr>
            </a:pPr>
            <a:r>
              <a:t>• Archived stacked views: Aggregate dollar totals, aggregate shares, and stacked positive-only medians (normalized mix and raw sum of medians) are in python/analysis/revenue_sources_black_hills/results/client_notebook_assets/. Stacked medians use the same positive-reporter definition but each segment is a different org subset, so normalized stacks show a relative profile only — not a budget that adds up.</a:t>
            </a:r>
          </a:p>
        </p:txBody>
      </p:sp>
      <p:sp>
        <p:nvSpPr>
          <p:cNvPr id="10" name="TextBox 9"/>
          <p:cNvSpPr txBox="1"/>
          <p:nvPr/>
        </p:nvSpPr>
        <p:spPr>
          <a:xfrm>
            <a:off x="457200" y="3129534"/>
            <a:ext cx="11277295" cy="256032"/>
          </a:xfrm>
          <a:prstGeom prst="rect">
            <a:avLst/>
          </a:prstGeom>
          <a:noFill/>
        </p:spPr>
        <p:txBody>
          <a:bodyPr wrap="square" anchor="t">
            <a:noAutofit/>
          </a:bodyPr>
          <a:lstStyle/>
          <a:p>
            <a:pPr>
              <a:defRPr sz="1200" b="1" i="0">
                <a:solidFill>
                  <a:srgbClr val="333333"/>
                </a:solidFill>
              </a:defRPr>
            </a:pPr>
            <a:r>
              <a:t>How to read the charts and tests</a:t>
            </a:r>
          </a:p>
        </p:txBody>
      </p:sp>
      <p:sp>
        <p:nvSpPr>
          <p:cNvPr id="11" name="TextBox 10"/>
          <p:cNvSpPr txBox="1"/>
          <p:nvPr/>
        </p:nvSpPr>
        <p:spPr>
          <a:xfrm>
            <a:off x="457200" y="3477006"/>
            <a:ext cx="11277295" cy="685800"/>
          </a:xfrm>
          <a:prstGeom prst="rect">
            <a:avLst/>
          </a:prstGeom>
          <a:noFill/>
        </p:spPr>
        <p:txBody>
          <a:bodyPr wrap="square" anchor="t">
            <a:noAutofit/>
          </a:bodyPr>
          <a:lstStyle/>
          <a:p>
            <a:pPr>
              <a:defRPr sz="1000" b="0" i="0">
                <a:solidFill>
                  <a:srgbClr val="333333"/>
                </a:solidFill>
              </a:defRPr>
            </a:pPr>
            <a:r>
              <a:t>Zero-excluded framing. Every revenue and contribution source slide below restricts the median and the permutation test to organizations that report a positive amount for that source. This trades the population-level prevalence story (how many organizations engage with the source at all) for the conditional dollar story (when an organization does engage, how big is the check). Reporting rates, reporter counts, and IQR are stored in client_2022_pairwise_presentation_summary.csv if needed.</a:t>
            </a:r>
          </a:p>
        </p:txBody>
      </p:sp>
      <p:sp>
        <p:nvSpPr>
          <p:cNvPr id="12" name="TextBox 11"/>
          <p:cNvSpPr txBox="1"/>
          <p:nvPr/>
        </p:nvSpPr>
        <p:spPr>
          <a:xfrm>
            <a:off x="457200" y="4254246"/>
            <a:ext cx="11277295" cy="342900"/>
          </a:xfrm>
          <a:prstGeom prst="rect">
            <a:avLst/>
          </a:prstGeom>
          <a:noFill/>
        </p:spPr>
        <p:txBody>
          <a:bodyPr wrap="square" anchor="t">
            <a:noAutofit/>
          </a:bodyPr>
          <a:lstStyle/>
          <a:p>
            <a:pPr>
              <a:defRPr sz="1000" b="0" i="0">
                <a:solidFill>
                  <a:srgbClr val="333333"/>
                </a:solidFill>
              </a:defRPr>
            </a:pPr>
            <a:r>
              <a:t>Headline test. Pairwise tests use a two-sided permutation test on the median dollar difference between Black Hills positive reporters and each benchmark region's positive reporters (10,000 reshuffles, seed 321). The median gap is shown with a 95% percentile bootstrap CI on the source slides below.</a:t>
            </a:r>
          </a:p>
        </p:txBody>
      </p:sp>
      <p:sp>
        <p:nvSpPr>
          <p:cNvPr id="13" name="TextBox 12"/>
          <p:cNvSpPr txBox="1"/>
          <p:nvPr/>
        </p:nvSpPr>
        <p:spPr>
          <a:xfrm>
            <a:off x="457200" y="4688586"/>
            <a:ext cx="11277295" cy="514350"/>
          </a:xfrm>
          <a:prstGeom prst="rect">
            <a:avLst/>
          </a:prstGeom>
          <a:noFill/>
        </p:spPr>
        <p:txBody>
          <a:bodyPr wrap="square" anchor="t">
            <a:noAutofit/>
          </a:bodyPr>
          <a:lstStyle/>
          <a:p>
            <a:pPr>
              <a:defRPr sz="1000" b="0" i="0">
                <a:solidFill>
                  <a:srgbClr val="333333"/>
                </a:solidFill>
              </a:defRPr>
            </a:pPr>
            <a:r>
              <a:t>How to read the charts. Each region is a single bar whose height equals the median dollar amount reported by organizations in that region — restricted to positive reporters, as described above. The chart shows region names only; slide bullets on the following pages report the median gap, 95% CI, and permutation p-value for each Black Hills vs benchmark comparison.</a:t>
            </a:r>
          </a:p>
        </p:txBody>
      </p:sp>
      <p:sp>
        <p:nvSpPr>
          <p:cNvPr id="14" name="TextBox 13"/>
          <p:cNvSpPr txBox="1"/>
          <p:nvPr/>
        </p:nvSpPr>
        <p:spPr>
          <a:xfrm>
            <a:off x="457200" y="5294376"/>
            <a:ext cx="11277295" cy="514350"/>
          </a:xfrm>
          <a:prstGeom prst="rect">
            <a:avLst/>
          </a:prstGeom>
          <a:noFill/>
        </p:spPr>
        <p:txBody>
          <a:bodyPr wrap="square" anchor="t">
            <a:noAutofit/>
          </a:bodyPr>
          <a:lstStyle/>
          <a:p>
            <a:pPr>
              <a:defRPr sz="1000" b="0" i="0">
                <a:solidFill>
                  <a:srgbClr val="333333"/>
                </a:solidFill>
              </a:defRPr>
            </a:pPr>
            <a:r>
              <a:t>What changes vs an all-population test. For sources where Black Hills has the *highest* reporting rate but a *lower* dollar amount among reporters (government grants, federated campaigns), the direction of difference flips between the two framings. Both views can be true at once: more Black Hills organizations participate, but each participating organization brings in fewer dollars from that source. Use both numbers when telling the full story to the 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Total revenue</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3</a:t>
            </a:r>
          </a:p>
        </p:txBody>
      </p:sp>
      <p:sp>
        <p:nvSpPr>
          <p:cNvPr id="5" name="TextBox 4"/>
          <p:cNvSpPr txBox="1"/>
          <p:nvPr/>
        </p:nvSpPr>
        <p:spPr>
          <a:xfrm>
            <a:off x="457200" y="960120"/>
            <a:ext cx="11277295" cy="308610"/>
          </a:xfrm>
          <a:prstGeom prst="rect">
            <a:avLst/>
          </a:prstGeom>
          <a:noFill/>
        </p:spPr>
        <p:txBody>
          <a:bodyPr wrap="square" anchor="t">
            <a:noAutofit/>
          </a:bodyPr>
          <a:lstStyle/>
          <a:p>
            <a:pPr>
              <a:defRPr sz="900" b="0" i="0">
                <a:solidFill>
                  <a:srgbClr val="333333"/>
                </a:solidFill>
              </a:defRPr>
            </a:pPr>
            <a:r>
              <a:t>Pairwise comparison of conditional medians for organizations with a positive value for this source (zeros excluded). Headline test: two-sided permutation on the median difference.</a:t>
            </a:r>
          </a:p>
        </p:txBody>
      </p:sp>
      <p:pic>
        <p:nvPicPr>
          <p:cNvPr id="6" name="Picture 5" descr="client_2022_pairwise_positive_median_total_revenue.png"/>
          <p:cNvPicPr>
            <a:picLocks noChangeAspect="1"/>
          </p:cNvPicPr>
          <p:nvPr/>
        </p:nvPicPr>
        <p:blipFill>
          <a:blip r:embed="rId2"/>
          <a:stretch>
            <a:fillRect/>
          </a:stretch>
        </p:blipFill>
        <p:spPr>
          <a:xfrm>
            <a:off x="3021450" y="1360170"/>
            <a:ext cx="6148794" cy="3403853"/>
          </a:xfrm>
          <a:prstGeom prst="rect">
            <a:avLst/>
          </a:prstGeom>
        </p:spPr>
      </p:pic>
      <p:graphicFrame>
        <p:nvGraphicFramePr>
          <p:cNvPr id="7" name="Table 6"/>
          <p:cNvGraphicFramePr>
            <a:graphicFrameLocks noGrp="1"/>
          </p:cNvGraphicFramePr>
          <p:nvPr/>
        </p:nvGraphicFramePr>
        <p:xfrm>
          <a:off x="457200" y="4855463"/>
          <a:ext cx="11277295" cy="118872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237744">
                <a:tc>
                  <a:txBody>
                    <a:bodyPr/>
                    <a:lstStyle/>
                    <a:p>
                      <a:pPr>
                        <a:defRPr sz="800" b="1">
                          <a:solidFill>
                            <a:srgbClr val="FFFFFF"/>
                          </a:solidFill>
                        </a:defRPr>
                      </a:pPr>
                      <a:r>
                        <a:t>Benchmark</a:t>
                      </a:r>
                    </a:p>
                  </a:txBody>
                  <a:tcPr anchor="ctr" marL="36576" marR="36576" marT="18288" marB="18288">
                    <a:solidFill>
                      <a:srgbClr val="2E6B9E"/>
                    </a:solidFill>
                  </a:tcPr>
                </a:tc>
                <a:tc>
                  <a:txBody>
                    <a:bodyPr/>
                    <a:lstStyle/>
                    <a:p>
                      <a:pPr>
                        <a:defRPr sz="800" b="1">
                          <a:solidFill>
                            <a:srgbClr val="FFFFFF"/>
                          </a:solidFill>
                        </a:defRPr>
                      </a:pPr>
                      <a:r>
                        <a:t>Significance</a:t>
                      </a:r>
                    </a:p>
                  </a:txBody>
                  <a:tcPr anchor="ctr" marL="36576" marR="36576" marT="18288" marB="18288">
                    <a:solidFill>
                      <a:srgbClr val="2E6B9E"/>
                    </a:solidFill>
                  </a:tcPr>
                </a:tc>
                <a:tc>
                  <a:txBody>
                    <a:bodyPr/>
                    <a:lstStyle/>
                    <a:p>
                      <a:pPr>
                        <a:defRPr sz="800" b="1">
                          <a:solidFill>
                            <a:srgbClr val="FFFFFF"/>
                          </a:solidFill>
                        </a:defRPr>
                      </a:pPr>
                      <a:r>
                        <a:t>BH median</a:t>
                      </a:r>
                    </a:p>
                  </a:txBody>
                  <a:tcPr anchor="ctr" marL="36576" marR="36576" marT="18288" marB="18288">
                    <a:solidFill>
                      <a:srgbClr val="2E6B9E"/>
                    </a:solidFill>
                  </a:tcPr>
                </a:tc>
                <a:tc>
                  <a:txBody>
                    <a:bodyPr/>
                    <a:lstStyle/>
                    <a:p>
                      <a:pPr>
                        <a:defRPr sz="800" b="1">
                          <a:solidFill>
                            <a:srgbClr val="FFFFFF"/>
                          </a:solidFill>
                        </a:defRPr>
                      </a:pPr>
                      <a:r>
                        <a:t>Benchmark median</a:t>
                      </a:r>
                    </a:p>
                  </a:txBody>
                  <a:tcPr anchor="ctr" marL="36576" marR="36576" marT="18288" marB="18288">
                    <a:solidFill>
                      <a:srgbClr val="2E6B9E"/>
                    </a:solidFill>
                  </a:tcPr>
                </a:tc>
                <a:tc>
                  <a:txBody>
                    <a:bodyPr/>
                    <a:lstStyle/>
                    <a:p>
                      <a:pPr>
                        <a:defRPr sz="800" b="1">
                          <a:solidFill>
                            <a:srgbClr val="FFFFFF"/>
                          </a:solidFill>
                        </a:defRPr>
                      </a:pPr>
                      <a:r>
                        <a:t>Median gap (95% CI)</a:t>
                      </a:r>
                    </a:p>
                  </a:txBody>
                  <a:tcPr anchor="ctr" marL="36576" marR="36576" marT="18288" marB="18288">
                    <a:solidFill>
                      <a:srgbClr val="2E6B9E"/>
                    </a:solidFill>
                  </a:tcPr>
                </a:tc>
                <a:tc>
                  <a:txBody>
                    <a:bodyPr/>
                    <a:lstStyle/>
                    <a:p>
                      <a:pPr>
                        <a:defRPr sz="800" b="1">
                          <a:solidFill>
                            <a:srgbClr val="FFFFFF"/>
                          </a:solidFill>
                        </a:defRPr>
                      </a:pPr>
                      <a:r>
                        <a:t>p-value</a:t>
                      </a:r>
                    </a:p>
                  </a:txBody>
                  <a:tcPr anchor="ctr" marL="36576" marR="36576" marT="18288" marB="18288">
                    <a:solidFill>
                      <a:srgbClr val="2E6B9E"/>
                    </a:solidFill>
                  </a:tcPr>
                </a:tc>
              </a:tr>
              <a:tr h="237744">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$176,760</a:t>
                      </a:r>
                    </a:p>
                  </a:txBody>
                  <a:tcPr anchor="ctr" marL="36576" marR="36576" marT="18288" marB="18288"/>
                </a:tc>
                <a:tc>
                  <a:txBody>
                    <a:bodyPr/>
                    <a:lstStyle/>
                    <a:p>
                      <a:pPr>
                        <a:defRPr sz="800">
                          <a:solidFill>
                            <a:srgbClr val="333333"/>
                          </a:solidFill>
                        </a:defRPr>
                      </a:pPr>
                      <a:r>
                        <a:t>$219,228</a:t>
                      </a:r>
                    </a:p>
                  </a:txBody>
                  <a:tcPr anchor="ctr" marL="36576" marR="36576" marT="18288" marB="18288"/>
                </a:tc>
                <a:tc>
                  <a:txBody>
                    <a:bodyPr/>
                    <a:lstStyle/>
                    <a:p>
                      <a:pPr>
                        <a:defRPr sz="800">
                          <a:solidFill>
                            <a:srgbClr val="333333"/>
                          </a:solidFill>
                        </a:defRPr>
                      </a:pPr>
                      <a:r>
                        <a:t>-$42,468 (95% CI -$125,394 to +$33,850)</a:t>
                      </a:r>
                    </a:p>
                  </a:txBody>
                  <a:tcPr anchor="ctr" marL="36576" marR="36576" marT="18288" marB="18288"/>
                </a:tc>
                <a:tc>
                  <a:txBody>
                    <a:bodyPr/>
                    <a:lstStyle/>
                    <a:p>
                      <a:pPr>
                        <a:defRPr sz="800">
                          <a:solidFill>
                            <a:srgbClr val="333333"/>
                          </a:solidFill>
                        </a:defRPr>
                      </a:pPr>
                      <a:r>
                        <a:t>p = 0.269</a:t>
                      </a:r>
                    </a:p>
                  </a:txBody>
                  <a:tcPr anchor="ctr" marL="36576" marR="36576" marT="18288" marB="18288"/>
                </a:tc>
              </a:tr>
              <a:tr h="237744">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$176,760</a:t>
                      </a:r>
                    </a:p>
                  </a:txBody>
                  <a:tcPr anchor="ctr" marL="36576" marR="36576" marT="18288" marB="18288"/>
                </a:tc>
                <a:tc>
                  <a:txBody>
                    <a:bodyPr/>
                    <a:lstStyle/>
                    <a:p>
                      <a:pPr>
                        <a:defRPr sz="800">
                          <a:solidFill>
                            <a:srgbClr val="333333"/>
                          </a:solidFill>
                        </a:defRPr>
                      </a:pPr>
                      <a:r>
                        <a:t>$212,002</a:t>
                      </a:r>
                    </a:p>
                  </a:txBody>
                  <a:tcPr anchor="ctr" marL="36576" marR="36576" marT="18288" marB="18288"/>
                </a:tc>
                <a:tc>
                  <a:txBody>
                    <a:bodyPr/>
                    <a:lstStyle/>
                    <a:p>
                      <a:pPr>
                        <a:defRPr sz="800">
                          <a:solidFill>
                            <a:srgbClr val="333333"/>
                          </a:solidFill>
                        </a:defRPr>
                      </a:pPr>
                      <a:r>
                        <a:t>-$35,242 (95% CI -$149,323 to +$35,127)</a:t>
                      </a:r>
                    </a:p>
                  </a:txBody>
                  <a:tcPr anchor="ctr" marL="36576" marR="36576" marT="18288" marB="18288"/>
                </a:tc>
                <a:tc>
                  <a:txBody>
                    <a:bodyPr/>
                    <a:lstStyle/>
                    <a:p>
                      <a:pPr>
                        <a:defRPr sz="800">
                          <a:solidFill>
                            <a:srgbClr val="333333"/>
                          </a:solidFill>
                        </a:defRPr>
                      </a:pPr>
                      <a:r>
                        <a:t>p = 0.366</a:t>
                      </a:r>
                    </a:p>
                  </a:txBody>
                  <a:tcPr anchor="ctr" marL="36576" marR="36576" marT="18288" marB="18288"/>
                </a:tc>
              </a:tr>
              <a:tr h="237744">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$176,760</a:t>
                      </a:r>
                    </a:p>
                  </a:txBody>
                  <a:tcPr anchor="ctr" marL="36576" marR="36576" marT="18288" marB="18288"/>
                </a:tc>
                <a:tc>
                  <a:txBody>
                    <a:bodyPr/>
                    <a:lstStyle/>
                    <a:p>
                      <a:pPr>
                        <a:defRPr sz="800">
                          <a:solidFill>
                            <a:srgbClr val="333333"/>
                          </a:solidFill>
                        </a:defRPr>
                      </a:pPr>
                      <a:r>
                        <a:t>$208,149</a:t>
                      </a:r>
                    </a:p>
                  </a:txBody>
                  <a:tcPr anchor="ctr" marL="36576" marR="36576" marT="18288" marB="18288"/>
                </a:tc>
                <a:tc>
                  <a:txBody>
                    <a:bodyPr/>
                    <a:lstStyle/>
                    <a:p>
                      <a:pPr>
                        <a:defRPr sz="800">
                          <a:solidFill>
                            <a:srgbClr val="333333"/>
                          </a:solidFill>
                        </a:defRPr>
                      </a:pPr>
                      <a:r>
                        <a:t>-$31,390 (95% CI -$84,901 to +$26,666)</a:t>
                      </a:r>
                    </a:p>
                  </a:txBody>
                  <a:tcPr anchor="ctr" marL="36576" marR="36576" marT="18288" marB="18288"/>
                </a:tc>
                <a:tc>
                  <a:txBody>
                    <a:bodyPr/>
                    <a:lstStyle/>
                    <a:p>
                      <a:pPr>
                        <a:defRPr sz="800">
                          <a:solidFill>
                            <a:srgbClr val="333333"/>
                          </a:solidFill>
                        </a:defRPr>
                      </a:pPr>
                      <a:r>
                        <a:t>p = 0.246</a:t>
                      </a:r>
                    </a:p>
                  </a:txBody>
                  <a:tcPr anchor="ctr" marL="36576" marR="36576" marT="18288" marB="18288"/>
                </a:tc>
              </a:tr>
              <a:tr h="237744">
                <a:tc>
                  <a:txBody>
                    <a:bodyPr/>
                    <a:lstStyle/>
                    <a:p>
                      <a:pPr>
                        <a:defRPr sz="800">
                          <a:solidFill>
                            <a:srgbClr val="333333"/>
                          </a:solidFill>
                        </a:defRPr>
                      </a:pPr>
                      <a:r>
                        <a:t>Missoula</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$176,760</a:t>
                      </a:r>
                    </a:p>
                  </a:txBody>
                  <a:tcPr anchor="ctr" marL="36576" marR="36576" marT="18288" marB="18288"/>
                </a:tc>
                <a:tc>
                  <a:txBody>
                    <a:bodyPr/>
                    <a:lstStyle/>
                    <a:p>
                      <a:pPr>
                        <a:defRPr sz="800">
                          <a:solidFill>
                            <a:srgbClr val="333333"/>
                          </a:solidFill>
                        </a:defRPr>
                      </a:pPr>
                      <a:r>
                        <a:t>$222,401</a:t>
                      </a:r>
                    </a:p>
                  </a:txBody>
                  <a:tcPr anchor="ctr" marL="36576" marR="36576" marT="18288" marB="18288"/>
                </a:tc>
                <a:tc>
                  <a:txBody>
                    <a:bodyPr/>
                    <a:lstStyle/>
                    <a:p>
                      <a:pPr>
                        <a:defRPr sz="800">
                          <a:solidFill>
                            <a:srgbClr val="333333"/>
                          </a:solidFill>
                        </a:defRPr>
                      </a:pPr>
                      <a:r>
                        <a:t>-$45,642 (95% CI -$126,653 to +$32,158)</a:t>
                      </a:r>
                    </a:p>
                  </a:txBody>
                  <a:tcPr anchor="ctr" marL="36576" marR="36576" marT="18288" marB="18288"/>
                </a:tc>
                <a:tc>
                  <a:txBody>
                    <a:bodyPr/>
                    <a:lstStyle/>
                    <a:p>
                      <a:pPr>
                        <a:defRPr sz="800">
                          <a:solidFill>
                            <a:srgbClr val="333333"/>
                          </a:solidFill>
                        </a:defRPr>
                      </a:pPr>
                      <a:r>
                        <a:t>p = 0.242</a:t>
                      </a:r>
                    </a:p>
                  </a:txBody>
                  <a:tcPr anchor="ctr" marL="36576" marR="36576" marT="18288" marB="18288"/>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Program service revenue</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4</a:t>
            </a:r>
          </a:p>
        </p:txBody>
      </p:sp>
      <p:sp>
        <p:nvSpPr>
          <p:cNvPr id="5" name="TextBox 4"/>
          <p:cNvSpPr txBox="1"/>
          <p:nvPr/>
        </p:nvSpPr>
        <p:spPr>
          <a:xfrm>
            <a:off x="457200" y="960120"/>
            <a:ext cx="11277295" cy="308610"/>
          </a:xfrm>
          <a:prstGeom prst="rect">
            <a:avLst/>
          </a:prstGeom>
          <a:noFill/>
        </p:spPr>
        <p:txBody>
          <a:bodyPr wrap="square" anchor="t">
            <a:noAutofit/>
          </a:bodyPr>
          <a:lstStyle/>
          <a:p>
            <a:pPr>
              <a:defRPr sz="900" b="0" i="0">
                <a:solidFill>
                  <a:srgbClr val="333333"/>
                </a:solidFill>
              </a:defRPr>
            </a:pPr>
            <a:r>
              <a:t>Pairwise comparison of conditional medians for organizations with a positive value for this source (zeros excluded). Headline test: two-sided permutation on the median difference.</a:t>
            </a:r>
          </a:p>
        </p:txBody>
      </p:sp>
      <p:pic>
        <p:nvPicPr>
          <p:cNvPr id="6" name="Picture 5" descr="client_2022_pairwise_positive_median_program_service_revenue.png"/>
          <p:cNvPicPr>
            <a:picLocks noChangeAspect="1"/>
          </p:cNvPicPr>
          <p:nvPr/>
        </p:nvPicPr>
        <p:blipFill>
          <a:blip r:embed="rId2"/>
          <a:stretch>
            <a:fillRect/>
          </a:stretch>
        </p:blipFill>
        <p:spPr>
          <a:xfrm>
            <a:off x="3021450" y="1360170"/>
            <a:ext cx="6148794" cy="3403853"/>
          </a:xfrm>
          <a:prstGeom prst="rect">
            <a:avLst/>
          </a:prstGeom>
        </p:spPr>
      </p:pic>
      <p:graphicFrame>
        <p:nvGraphicFramePr>
          <p:cNvPr id="7" name="Table 6"/>
          <p:cNvGraphicFramePr>
            <a:graphicFrameLocks noGrp="1"/>
          </p:cNvGraphicFramePr>
          <p:nvPr/>
        </p:nvGraphicFramePr>
        <p:xfrm>
          <a:off x="457200" y="4855463"/>
          <a:ext cx="11277295" cy="118872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237744">
                <a:tc>
                  <a:txBody>
                    <a:bodyPr/>
                    <a:lstStyle/>
                    <a:p>
                      <a:pPr>
                        <a:defRPr sz="800" b="1">
                          <a:solidFill>
                            <a:srgbClr val="FFFFFF"/>
                          </a:solidFill>
                        </a:defRPr>
                      </a:pPr>
                      <a:r>
                        <a:t>Benchmark</a:t>
                      </a:r>
                    </a:p>
                  </a:txBody>
                  <a:tcPr anchor="ctr" marL="36576" marR="36576" marT="18288" marB="18288">
                    <a:solidFill>
                      <a:srgbClr val="2E6B9E"/>
                    </a:solidFill>
                  </a:tcPr>
                </a:tc>
                <a:tc>
                  <a:txBody>
                    <a:bodyPr/>
                    <a:lstStyle/>
                    <a:p>
                      <a:pPr>
                        <a:defRPr sz="800" b="1">
                          <a:solidFill>
                            <a:srgbClr val="FFFFFF"/>
                          </a:solidFill>
                        </a:defRPr>
                      </a:pPr>
                      <a:r>
                        <a:t>Significance</a:t>
                      </a:r>
                    </a:p>
                  </a:txBody>
                  <a:tcPr anchor="ctr" marL="36576" marR="36576" marT="18288" marB="18288">
                    <a:solidFill>
                      <a:srgbClr val="2E6B9E"/>
                    </a:solidFill>
                  </a:tcPr>
                </a:tc>
                <a:tc>
                  <a:txBody>
                    <a:bodyPr/>
                    <a:lstStyle/>
                    <a:p>
                      <a:pPr>
                        <a:defRPr sz="800" b="1">
                          <a:solidFill>
                            <a:srgbClr val="FFFFFF"/>
                          </a:solidFill>
                        </a:defRPr>
                      </a:pPr>
                      <a:r>
                        <a:t>BH median</a:t>
                      </a:r>
                    </a:p>
                  </a:txBody>
                  <a:tcPr anchor="ctr" marL="36576" marR="36576" marT="18288" marB="18288">
                    <a:solidFill>
                      <a:srgbClr val="2E6B9E"/>
                    </a:solidFill>
                  </a:tcPr>
                </a:tc>
                <a:tc>
                  <a:txBody>
                    <a:bodyPr/>
                    <a:lstStyle/>
                    <a:p>
                      <a:pPr>
                        <a:defRPr sz="800" b="1">
                          <a:solidFill>
                            <a:srgbClr val="FFFFFF"/>
                          </a:solidFill>
                        </a:defRPr>
                      </a:pPr>
                      <a:r>
                        <a:t>Benchmark median</a:t>
                      </a:r>
                    </a:p>
                  </a:txBody>
                  <a:tcPr anchor="ctr" marL="36576" marR="36576" marT="18288" marB="18288">
                    <a:solidFill>
                      <a:srgbClr val="2E6B9E"/>
                    </a:solidFill>
                  </a:tcPr>
                </a:tc>
                <a:tc>
                  <a:txBody>
                    <a:bodyPr/>
                    <a:lstStyle/>
                    <a:p>
                      <a:pPr>
                        <a:defRPr sz="800" b="1">
                          <a:solidFill>
                            <a:srgbClr val="FFFFFF"/>
                          </a:solidFill>
                        </a:defRPr>
                      </a:pPr>
                      <a:r>
                        <a:t>Median gap (95% CI)</a:t>
                      </a:r>
                    </a:p>
                  </a:txBody>
                  <a:tcPr anchor="ctr" marL="36576" marR="36576" marT="18288" marB="18288">
                    <a:solidFill>
                      <a:srgbClr val="2E6B9E"/>
                    </a:solidFill>
                  </a:tcPr>
                </a:tc>
                <a:tc>
                  <a:txBody>
                    <a:bodyPr/>
                    <a:lstStyle/>
                    <a:p>
                      <a:pPr>
                        <a:defRPr sz="800" b="1">
                          <a:solidFill>
                            <a:srgbClr val="FFFFFF"/>
                          </a:solidFill>
                        </a:defRPr>
                      </a:pPr>
                      <a:r>
                        <a:t>p-value</a:t>
                      </a:r>
                    </a:p>
                  </a:txBody>
                  <a:tcPr anchor="ctr" marL="36576" marR="36576" marT="18288" marB="18288">
                    <a:solidFill>
                      <a:srgbClr val="2E6B9E"/>
                    </a:solidFill>
                  </a:tcPr>
                </a:tc>
              </a:tr>
              <a:tr h="237744">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$106,346</a:t>
                      </a:r>
                    </a:p>
                  </a:txBody>
                  <a:tcPr anchor="ctr" marL="36576" marR="36576" marT="18288" marB="18288"/>
                </a:tc>
                <a:tc>
                  <a:txBody>
                    <a:bodyPr/>
                    <a:lstStyle/>
                    <a:p>
                      <a:pPr>
                        <a:defRPr sz="800">
                          <a:solidFill>
                            <a:srgbClr val="333333"/>
                          </a:solidFill>
                        </a:defRPr>
                      </a:pPr>
                      <a:r>
                        <a:t>$134,079</a:t>
                      </a:r>
                    </a:p>
                  </a:txBody>
                  <a:tcPr anchor="ctr" marL="36576" marR="36576" marT="18288" marB="18288"/>
                </a:tc>
                <a:tc>
                  <a:txBody>
                    <a:bodyPr/>
                    <a:lstStyle/>
                    <a:p>
                      <a:pPr>
                        <a:defRPr sz="800">
                          <a:solidFill>
                            <a:srgbClr val="333333"/>
                          </a:solidFill>
                        </a:defRPr>
                      </a:pPr>
                      <a:r>
                        <a:t>-$27,733 (95% CI -$96,511 to +$25,161)</a:t>
                      </a:r>
                    </a:p>
                  </a:txBody>
                  <a:tcPr anchor="ctr" marL="36576" marR="36576" marT="18288" marB="18288"/>
                </a:tc>
                <a:tc>
                  <a:txBody>
                    <a:bodyPr/>
                    <a:lstStyle/>
                    <a:p>
                      <a:pPr>
                        <a:defRPr sz="800">
                          <a:solidFill>
                            <a:srgbClr val="333333"/>
                          </a:solidFill>
                        </a:defRPr>
                      </a:pPr>
                      <a:r>
                        <a:t>p = 0.292</a:t>
                      </a:r>
                    </a:p>
                  </a:txBody>
                  <a:tcPr anchor="ctr" marL="36576" marR="36576" marT="18288" marB="18288"/>
                </a:tc>
              </a:tr>
              <a:tr h="237744">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Significant</a:t>
                      </a:r>
                    </a:p>
                  </a:txBody>
                  <a:tcPr anchor="ctr" marL="36576" marR="36576" marT="18288" marB="18288"/>
                </a:tc>
                <a:tc>
                  <a:txBody>
                    <a:bodyPr/>
                    <a:lstStyle/>
                    <a:p>
                      <a:pPr>
                        <a:defRPr sz="800">
                          <a:solidFill>
                            <a:srgbClr val="333333"/>
                          </a:solidFill>
                        </a:defRPr>
                      </a:pPr>
                      <a:r>
                        <a:t>$106,346</a:t>
                      </a:r>
                    </a:p>
                  </a:txBody>
                  <a:tcPr anchor="ctr" marL="36576" marR="36576" marT="18288" marB="18288"/>
                </a:tc>
                <a:tc>
                  <a:txBody>
                    <a:bodyPr/>
                    <a:lstStyle/>
                    <a:p>
                      <a:pPr>
                        <a:defRPr sz="800">
                          <a:solidFill>
                            <a:srgbClr val="333333"/>
                          </a:solidFill>
                        </a:defRPr>
                      </a:pPr>
                      <a:r>
                        <a:t>$188,968</a:t>
                      </a:r>
                    </a:p>
                  </a:txBody>
                  <a:tcPr anchor="ctr" marL="36576" marR="36576" marT="18288" marB="18288"/>
                </a:tc>
                <a:tc>
                  <a:txBody>
                    <a:bodyPr/>
                    <a:lstStyle/>
                    <a:p>
                      <a:pPr>
                        <a:defRPr sz="800">
                          <a:solidFill>
                            <a:srgbClr val="333333"/>
                          </a:solidFill>
                        </a:defRPr>
                      </a:pPr>
                      <a:r>
                        <a:t>-$82,622 (95% CI -$188,223 to +$1,513)</a:t>
                      </a:r>
                    </a:p>
                  </a:txBody>
                  <a:tcPr anchor="ctr" marL="36576" marR="36576" marT="18288" marB="18288"/>
                </a:tc>
                <a:tc>
                  <a:txBody>
                    <a:bodyPr/>
                    <a:lstStyle/>
                    <a:p>
                      <a:pPr>
                        <a:defRPr sz="800">
                          <a:solidFill>
                            <a:srgbClr val="333333"/>
                          </a:solidFill>
                        </a:defRPr>
                      </a:pPr>
                      <a:r>
                        <a:t>p = 0.038</a:t>
                      </a:r>
                    </a:p>
                  </a:txBody>
                  <a:tcPr anchor="ctr" marL="36576" marR="36576" marT="18288" marB="18288"/>
                </a:tc>
              </a:tr>
              <a:tr h="237744">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$106,346</a:t>
                      </a:r>
                    </a:p>
                  </a:txBody>
                  <a:tcPr anchor="ctr" marL="36576" marR="36576" marT="18288" marB="18288"/>
                </a:tc>
                <a:tc>
                  <a:txBody>
                    <a:bodyPr/>
                    <a:lstStyle/>
                    <a:p>
                      <a:pPr>
                        <a:defRPr sz="800">
                          <a:solidFill>
                            <a:srgbClr val="333333"/>
                          </a:solidFill>
                        </a:defRPr>
                      </a:pPr>
                      <a:r>
                        <a:t>$151,055</a:t>
                      </a:r>
                    </a:p>
                  </a:txBody>
                  <a:tcPr anchor="ctr" marL="36576" marR="36576" marT="18288" marB="18288"/>
                </a:tc>
                <a:tc>
                  <a:txBody>
                    <a:bodyPr/>
                    <a:lstStyle/>
                    <a:p>
                      <a:pPr>
                        <a:defRPr sz="800">
                          <a:solidFill>
                            <a:srgbClr val="333333"/>
                          </a:solidFill>
                        </a:defRPr>
                      </a:pPr>
                      <a:r>
                        <a:t>-$44,709 (95% CI -$114,440 to +$6,707)</a:t>
                      </a:r>
                    </a:p>
                  </a:txBody>
                  <a:tcPr anchor="ctr" marL="36576" marR="36576" marT="18288" marB="18288"/>
                </a:tc>
                <a:tc>
                  <a:txBody>
                    <a:bodyPr/>
                    <a:lstStyle/>
                    <a:p>
                      <a:pPr>
                        <a:defRPr sz="800">
                          <a:solidFill>
                            <a:srgbClr val="333333"/>
                          </a:solidFill>
                        </a:defRPr>
                      </a:pPr>
                      <a:r>
                        <a:t>p = 0.089</a:t>
                      </a:r>
                    </a:p>
                  </a:txBody>
                  <a:tcPr anchor="ctr" marL="36576" marR="36576" marT="18288" marB="18288"/>
                </a:tc>
              </a:tr>
              <a:tr h="237744">
                <a:tc>
                  <a:txBody>
                    <a:bodyPr/>
                    <a:lstStyle/>
                    <a:p>
                      <a:pPr>
                        <a:defRPr sz="800">
                          <a:solidFill>
                            <a:srgbClr val="333333"/>
                          </a:solidFill>
                        </a:defRPr>
                      </a:pPr>
                      <a:r>
                        <a:t>Missoula</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$106,346</a:t>
                      </a:r>
                    </a:p>
                  </a:txBody>
                  <a:tcPr anchor="ctr" marL="36576" marR="36576" marT="18288" marB="18288"/>
                </a:tc>
                <a:tc>
                  <a:txBody>
                    <a:bodyPr/>
                    <a:lstStyle/>
                    <a:p>
                      <a:pPr>
                        <a:defRPr sz="800">
                          <a:solidFill>
                            <a:srgbClr val="333333"/>
                          </a:solidFill>
                        </a:defRPr>
                      </a:pPr>
                      <a:r>
                        <a:t>$140,091</a:t>
                      </a:r>
                    </a:p>
                  </a:txBody>
                  <a:tcPr anchor="ctr" marL="36576" marR="36576" marT="18288" marB="18288"/>
                </a:tc>
                <a:tc>
                  <a:txBody>
                    <a:bodyPr/>
                    <a:lstStyle/>
                    <a:p>
                      <a:pPr>
                        <a:defRPr sz="800">
                          <a:solidFill>
                            <a:srgbClr val="333333"/>
                          </a:solidFill>
                        </a:defRPr>
                      </a:pPr>
                      <a:r>
                        <a:t>-$33,745 (95% CI -$91,143 to +$18,223)</a:t>
                      </a:r>
                    </a:p>
                  </a:txBody>
                  <a:tcPr anchor="ctr" marL="36576" marR="36576" marT="18288" marB="18288"/>
                </a:tc>
                <a:tc>
                  <a:txBody>
                    <a:bodyPr/>
                    <a:lstStyle/>
                    <a:p>
                      <a:pPr>
                        <a:defRPr sz="800">
                          <a:solidFill>
                            <a:srgbClr val="333333"/>
                          </a:solidFill>
                        </a:defRPr>
                      </a:pPr>
                      <a:r>
                        <a:t>p = 0.175</a:t>
                      </a:r>
                    </a:p>
                  </a:txBody>
                  <a:tcPr anchor="ctr" marL="36576" marR="36576" marT="18288" marB="18288"/>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Total contributions</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5</a:t>
            </a:r>
          </a:p>
        </p:txBody>
      </p:sp>
      <p:sp>
        <p:nvSpPr>
          <p:cNvPr id="5" name="TextBox 4"/>
          <p:cNvSpPr txBox="1"/>
          <p:nvPr/>
        </p:nvSpPr>
        <p:spPr>
          <a:xfrm>
            <a:off x="457200" y="960120"/>
            <a:ext cx="11277295" cy="308610"/>
          </a:xfrm>
          <a:prstGeom prst="rect">
            <a:avLst/>
          </a:prstGeom>
          <a:noFill/>
        </p:spPr>
        <p:txBody>
          <a:bodyPr wrap="square" anchor="t">
            <a:noAutofit/>
          </a:bodyPr>
          <a:lstStyle/>
          <a:p>
            <a:pPr>
              <a:defRPr sz="900" b="0" i="0">
                <a:solidFill>
                  <a:srgbClr val="333333"/>
                </a:solidFill>
              </a:defRPr>
            </a:pPr>
            <a:r>
              <a:t>Pairwise comparison of conditional medians for organizations with a positive value for this source (zeros excluded). Headline test: two-sided permutation on the median difference.</a:t>
            </a:r>
          </a:p>
        </p:txBody>
      </p:sp>
      <p:pic>
        <p:nvPicPr>
          <p:cNvPr id="6" name="Picture 5" descr="client_2022_pairwise_positive_median_total_contributions.png"/>
          <p:cNvPicPr>
            <a:picLocks noChangeAspect="1"/>
          </p:cNvPicPr>
          <p:nvPr/>
        </p:nvPicPr>
        <p:blipFill>
          <a:blip r:embed="rId2"/>
          <a:stretch>
            <a:fillRect/>
          </a:stretch>
        </p:blipFill>
        <p:spPr>
          <a:xfrm>
            <a:off x="3023012" y="1360170"/>
            <a:ext cx="6145671" cy="3403853"/>
          </a:xfrm>
          <a:prstGeom prst="rect">
            <a:avLst/>
          </a:prstGeom>
        </p:spPr>
      </p:pic>
      <p:graphicFrame>
        <p:nvGraphicFramePr>
          <p:cNvPr id="7" name="Table 6"/>
          <p:cNvGraphicFramePr>
            <a:graphicFrameLocks noGrp="1"/>
          </p:cNvGraphicFramePr>
          <p:nvPr/>
        </p:nvGraphicFramePr>
        <p:xfrm>
          <a:off x="457200" y="4855463"/>
          <a:ext cx="11277295" cy="118872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237744">
                <a:tc>
                  <a:txBody>
                    <a:bodyPr/>
                    <a:lstStyle/>
                    <a:p>
                      <a:pPr>
                        <a:defRPr sz="800" b="1">
                          <a:solidFill>
                            <a:srgbClr val="FFFFFF"/>
                          </a:solidFill>
                        </a:defRPr>
                      </a:pPr>
                      <a:r>
                        <a:t>Benchmark</a:t>
                      </a:r>
                    </a:p>
                  </a:txBody>
                  <a:tcPr anchor="ctr" marL="36576" marR="36576" marT="18288" marB="18288">
                    <a:solidFill>
                      <a:srgbClr val="2E6B9E"/>
                    </a:solidFill>
                  </a:tcPr>
                </a:tc>
                <a:tc>
                  <a:txBody>
                    <a:bodyPr/>
                    <a:lstStyle/>
                    <a:p>
                      <a:pPr>
                        <a:defRPr sz="800" b="1">
                          <a:solidFill>
                            <a:srgbClr val="FFFFFF"/>
                          </a:solidFill>
                        </a:defRPr>
                      </a:pPr>
                      <a:r>
                        <a:t>Significance</a:t>
                      </a:r>
                    </a:p>
                  </a:txBody>
                  <a:tcPr anchor="ctr" marL="36576" marR="36576" marT="18288" marB="18288">
                    <a:solidFill>
                      <a:srgbClr val="2E6B9E"/>
                    </a:solidFill>
                  </a:tcPr>
                </a:tc>
                <a:tc>
                  <a:txBody>
                    <a:bodyPr/>
                    <a:lstStyle/>
                    <a:p>
                      <a:pPr>
                        <a:defRPr sz="800" b="1">
                          <a:solidFill>
                            <a:srgbClr val="FFFFFF"/>
                          </a:solidFill>
                        </a:defRPr>
                      </a:pPr>
                      <a:r>
                        <a:t>BH median</a:t>
                      </a:r>
                    </a:p>
                  </a:txBody>
                  <a:tcPr anchor="ctr" marL="36576" marR="36576" marT="18288" marB="18288">
                    <a:solidFill>
                      <a:srgbClr val="2E6B9E"/>
                    </a:solidFill>
                  </a:tcPr>
                </a:tc>
                <a:tc>
                  <a:txBody>
                    <a:bodyPr/>
                    <a:lstStyle/>
                    <a:p>
                      <a:pPr>
                        <a:defRPr sz="800" b="1">
                          <a:solidFill>
                            <a:srgbClr val="FFFFFF"/>
                          </a:solidFill>
                        </a:defRPr>
                      </a:pPr>
                      <a:r>
                        <a:t>Benchmark median</a:t>
                      </a:r>
                    </a:p>
                  </a:txBody>
                  <a:tcPr anchor="ctr" marL="36576" marR="36576" marT="18288" marB="18288">
                    <a:solidFill>
                      <a:srgbClr val="2E6B9E"/>
                    </a:solidFill>
                  </a:tcPr>
                </a:tc>
                <a:tc>
                  <a:txBody>
                    <a:bodyPr/>
                    <a:lstStyle/>
                    <a:p>
                      <a:pPr>
                        <a:defRPr sz="800" b="1">
                          <a:solidFill>
                            <a:srgbClr val="FFFFFF"/>
                          </a:solidFill>
                        </a:defRPr>
                      </a:pPr>
                      <a:r>
                        <a:t>Median gap (95% CI)</a:t>
                      </a:r>
                    </a:p>
                  </a:txBody>
                  <a:tcPr anchor="ctr" marL="36576" marR="36576" marT="18288" marB="18288">
                    <a:solidFill>
                      <a:srgbClr val="2E6B9E"/>
                    </a:solidFill>
                  </a:tcPr>
                </a:tc>
                <a:tc>
                  <a:txBody>
                    <a:bodyPr/>
                    <a:lstStyle/>
                    <a:p>
                      <a:pPr>
                        <a:defRPr sz="800" b="1">
                          <a:solidFill>
                            <a:srgbClr val="FFFFFF"/>
                          </a:solidFill>
                        </a:defRPr>
                      </a:pPr>
                      <a:r>
                        <a:t>p-value</a:t>
                      </a:r>
                    </a:p>
                  </a:txBody>
                  <a:tcPr anchor="ctr" marL="36576" marR="36576" marT="18288" marB="18288">
                    <a:solidFill>
                      <a:srgbClr val="2E6B9E"/>
                    </a:solidFill>
                  </a:tcPr>
                </a:tc>
              </a:tr>
              <a:tr h="237744">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$110,308</a:t>
                      </a:r>
                    </a:p>
                  </a:txBody>
                  <a:tcPr anchor="ctr" marL="36576" marR="36576" marT="18288" marB="18288"/>
                </a:tc>
                <a:tc>
                  <a:txBody>
                    <a:bodyPr/>
                    <a:lstStyle/>
                    <a:p>
                      <a:pPr>
                        <a:defRPr sz="800">
                          <a:solidFill>
                            <a:srgbClr val="333333"/>
                          </a:solidFill>
                        </a:defRPr>
                      </a:pPr>
                      <a:r>
                        <a:t>$143,479</a:t>
                      </a:r>
                    </a:p>
                  </a:txBody>
                  <a:tcPr anchor="ctr" marL="36576" marR="36576" marT="18288" marB="18288"/>
                </a:tc>
                <a:tc>
                  <a:txBody>
                    <a:bodyPr/>
                    <a:lstStyle/>
                    <a:p>
                      <a:pPr>
                        <a:defRPr sz="800">
                          <a:solidFill>
                            <a:srgbClr val="333333"/>
                          </a:solidFill>
                        </a:defRPr>
                      </a:pPr>
                      <a:r>
                        <a:t>-$33,171 (95% CI -$85,280 to +$16,324)</a:t>
                      </a:r>
                    </a:p>
                  </a:txBody>
                  <a:tcPr anchor="ctr" marL="36576" marR="36576" marT="18288" marB="18288"/>
                </a:tc>
                <a:tc>
                  <a:txBody>
                    <a:bodyPr/>
                    <a:lstStyle/>
                    <a:p>
                      <a:pPr>
                        <a:defRPr sz="800">
                          <a:solidFill>
                            <a:srgbClr val="333333"/>
                          </a:solidFill>
                        </a:defRPr>
                      </a:pPr>
                      <a:r>
                        <a:t>p = 0.161</a:t>
                      </a:r>
                    </a:p>
                  </a:txBody>
                  <a:tcPr anchor="ctr" marL="36576" marR="36576" marT="18288" marB="18288"/>
                </a:tc>
              </a:tr>
              <a:tr h="237744">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$110,308</a:t>
                      </a:r>
                    </a:p>
                  </a:txBody>
                  <a:tcPr anchor="ctr" marL="36576" marR="36576" marT="18288" marB="18288"/>
                </a:tc>
                <a:tc>
                  <a:txBody>
                    <a:bodyPr/>
                    <a:lstStyle/>
                    <a:p>
                      <a:pPr>
                        <a:defRPr sz="800">
                          <a:solidFill>
                            <a:srgbClr val="333333"/>
                          </a:solidFill>
                        </a:defRPr>
                      </a:pPr>
                      <a:r>
                        <a:t>$141,210</a:t>
                      </a:r>
                    </a:p>
                  </a:txBody>
                  <a:tcPr anchor="ctr" marL="36576" marR="36576" marT="18288" marB="18288"/>
                </a:tc>
                <a:tc>
                  <a:txBody>
                    <a:bodyPr/>
                    <a:lstStyle/>
                    <a:p>
                      <a:pPr>
                        <a:defRPr sz="800">
                          <a:solidFill>
                            <a:srgbClr val="333333"/>
                          </a:solidFill>
                        </a:defRPr>
                      </a:pPr>
                      <a:r>
                        <a:t>-$30,902 (95% CI -$95,512 to +$14,239)</a:t>
                      </a:r>
                    </a:p>
                  </a:txBody>
                  <a:tcPr anchor="ctr" marL="36576" marR="36576" marT="18288" marB="18288"/>
                </a:tc>
                <a:tc>
                  <a:txBody>
                    <a:bodyPr/>
                    <a:lstStyle/>
                    <a:p>
                      <a:pPr>
                        <a:defRPr sz="800">
                          <a:solidFill>
                            <a:srgbClr val="333333"/>
                          </a:solidFill>
                        </a:defRPr>
                      </a:pPr>
                      <a:r>
                        <a:t>p = 0.224</a:t>
                      </a:r>
                    </a:p>
                  </a:txBody>
                  <a:tcPr anchor="ctr" marL="36576" marR="36576" marT="18288" marB="18288"/>
                </a:tc>
              </a:tr>
              <a:tr h="237744">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$110,308</a:t>
                      </a:r>
                    </a:p>
                  </a:txBody>
                  <a:tcPr anchor="ctr" marL="36576" marR="36576" marT="18288" marB="18288"/>
                </a:tc>
                <a:tc>
                  <a:txBody>
                    <a:bodyPr/>
                    <a:lstStyle/>
                    <a:p>
                      <a:pPr>
                        <a:defRPr sz="800">
                          <a:solidFill>
                            <a:srgbClr val="333333"/>
                          </a:solidFill>
                        </a:defRPr>
                      </a:pPr>
                      <a:r>
                        <a:t>$100,000</a:t>
                      </a:r>
                    </a:p>
                  </a:txBody>
                  <a:tcPr anchor="ctr" marL="36576" marR="36576" marT="18288" marB="18288"/>
                </a:tc>
                <a:tc>
                  <a:txBody>
                    <a:bodyPr/>
                    <a:lstStyle/>
                    <a:p>
                      <a:pPr>
                        <a:defRPr sz="800">
                          <a:solidFill>
                            <a:srgbClr val="333333"/>
                          </a:solidFill>
                        </a:defRPr>
                      </a:pPr>
                      <a:r>
                        <a:t>+$10,308 (95% CI -$20,952 to +$41,476)</a:t>
                      </a:r>
                    </a:p>
                  </a:txBody>
                  <a:tcPr anchor="ctr" marL="36576" marR="36576" marT="18288" marB="18288"/>
                </a:tc>
                <a:tc>
                  <a:txBody>
                    <a:bodyPr/>
                    <a:lstStyle/>
                    <a:p>
                      <a:pPr>
                        <a:defRPr sz="800">
                          <a:solidFill>
                            <a:srgbClr val="333333"/>
                          </a:solidFill>
                        </a:defRPr>
                      </a:pPr>
                      <a:r>
                        <a:t>p = 0.448</a:t>
                      </a:r>
                    </a:p>
                  </a:txBody>
                  <a:tcPr anchor="ctr" marL="36576" marR="36576" marT="18288" marB="18288"/>
                </a:tc>
              </a:tr>
              <a:tr h="237744">
                <a:tc>
                  <a:txBody>
                    <a:bodyPr/>
                    <a:lstStyle/>
                    <a:p>
                      <a:pPr>
                        <a:defRPr sz="800">
                          <a:solidFill>
                            <a:srgbClr val="333333"/>
                          </a:solidFill>
                        </a:defRPr>
                      </a:pPr>
                      <a:r>
                        <a:t>Missoula</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$110,308</a:t>
                      </a:r>
                    </a:p>
                  </a:txBody>
                  <a:tcPr anchor="ctr" marL="36576" marR="36576" marT="18288" marB="18288"/>
                </a:tc>
                <a:tc>
                  <a:txBody>
                    <a:bodyPr/>
                    <a:lstStyle/>
                    <a:p>
                      <a:pPr>
                        <a:defRPr sz="800">
                          <a:solidFill>
                            <a:srgbClr val="333333"/>
                          </a:solidFill>
                        </a:defRPr>
                      </a:pPr>
                      <a:r>
                        <a:t>$129,864</a:t>
                      </a:r>
                    </a:p>
                  </a:txBody>
                  <a:tcPr anchor="ctr" marL="36576" marR="36576" marT="18288" marB="18288"/>
                </a:tc>
                <a:tc>
                  <a:txBody>
                    <a:bodyPr/>
                    <a:lstStyle/>
                    <a:p>
                      <a:pPr>
                        <a:defRPr sz="800">
                          <a:solidFill>
                            <a:srgbClr val="333333"/>
                          </a:solidFill>
                        </a:defRPr>
                      </a:pPr>
                      <a:r>
                        <a:t>-$19,556 (95% CI -$95,775 to +$26,776)</a:t>
                      </a:r>
                    </a:p>
                  </a:txBody>
                  <a:tcPr anchor="ctr" marL="36576" marR="36576" marT="18288" marB="18288"/>
                </a:tc>
                <a:tc>
                  <a:txBody>
                    <a:bodyPr/>
                    <a:lstStyle/>
                    <a:p>
                      <a:pPr>
                        <a:defRPr sz="800">
                          <a:solidFill>
                            <a:srgbClr val="333333"/>
                          </a:solidFill>
                        </a:defRPr>
                      </a:pPr>
                      <a:r>
                        <a:t>p = 0.309</a:t>
                      </a:r>
                    </a:p>
                  </a:txBody>
                  <a:tcPr anchor="ctr" marL="36576" marR="36576" marT="18288" marB="18288"/>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Government grants received</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6</a:t>
            </a:r>
          </a:p>
        </p:txBody>
      </p:sp>
      <p:sp>
        <p:nvSpPr>
          <p:cNvPr id="5" name="TextBox 4"/>
          <p:cNvSpPr txBox="1"/>
          <p:nvPr/>
        </p:nvSpPr>
        <p:spPr>
          <a:xfrm>
            <a:off x="457200" y="960120"/>
            <a:ext cx="11277295" cy="308610"/>
          </a:xfrm>
          <a:prstGeom prst="rect">
            <a:avLst/>
          </a:prstGeom>
          <a:noFill/>
        </p:spPr>
        <p:txBody>
          <a:bodyPr wrap="square" anchor="t">
            <a:noAutofit/>
          </a:bodyPr>
          <a:lstStyle/>
          <a:p>
            <a:pPr>
              <a:defRPr sz="900" b="0" i="0">
                <a:solidFill>
                  <a:srgbClr val="333333"/>
                </a:solidFill>
              </a:defRPr>
            </a:pPr>
            <a:r>
              <a:t>Pairwise comparison of conditional medians for organizations with a positive value for this source (zeros excluded). Headline test: two-sided permutation on the median difference.</a:t>
            </a:r>
          </a:p>
        </p:txBody>
      </p:sp>
      <p:pic>
        <p:nvPicPr>
          <p:cNvPr id="6" name="Picture 5" descr="client_2022_pairwise_positive_median_government_grants_received.png"/>
          <p:cNvPicPr>
            <a:picLocks noChangeAspect="1"/>
          </p:cNvPicPr>
          <p:nvPr/>
        </p:nvPicPr>
        <p:blipFill>
          <a:blip r:embed="rId2"/>
          <a:stretch>
            <a:fillRect/>
          </a:stretch>
        </p:blipFill>
        <p:spPr>
          <a:xfrm>
            <a:off x="3023012" y="1360170"/>
            <a:ext cx="6145671" cy="3403853"/>
          </a:xfrm>
          <a:prstGeom prst="rect">
            <a:avLst/>
          </a:prstGeom>
        </p:spPr>
      </p:pic>
      <p:graphicFrame>
        <p:nvGraphicFramePr>
          <p:cNvPr id="7" name="Table 6"/>
          <p:cNvGraphicFramePr>
            <a:graphicFrameLocks noGrp="1"/>
          </p:cNvGraphicFramePr>
          <p:nvPr/>
        </p:nvGraphicFramePr>
        <p:xfrm>
          <a:off x="457200" y="4855463"/>
          <a:ext cx="11277295" cy="118872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237744">
                <a:tc>
                  <a:txBody>
                    <a:bodyPr/>
                    <a:lstStyle/>
                    <a:p>
                      <a:pPr>
                        <a:defRPr sz="800" b="1">
                          <a:solidFill>
                            <a:srgbClr val="FFFFFF"/>
                          </a:solidFill>
                        </a:defRPr>
                      </a:pPr>
                      <a:r>
                        <a:t>Benchmark</a:t>
                      </a:r>
                    </a:p>
                  </a:txBody>
                  <a:tcPr anchor="ctr" marL="36576" marR="36576" marT="18288" marB="18288">
                    <a:solidFill>
                      <a:srgbClr val="2E6B9E"/>
                    </a:solidFill>
                  </a:tcPr>
                </a:tc>
                <a:tc>
                  <a:txBody>
                    <a:bodyPr/>
                    <a:lstStyle/>
                    <a:p>
                      <a:pPr>
                        <a:defRPr sz="800" b="1">
                          <a:solidFill>
                            <a:srgbClr val="FFFFFF"/>
                          </a:solidFill>
                        </a:defRPr>
                      </a:pPr>
                      <a:r>
                        <a:t>Significance</a:t>
                      </a:r>
                    </a:p>
                  </a:txBody>
                  <a:tcPr anchor="ctr" marL="36576" marR="36576" marT="18288" marB="18288">
                    <a:solidFill>
                      <a:srgbClr val="2E6B9E"/>
                    </a:solidFill>
                  </a:tcPr>
                </a:tc>
                <a:tc>
                  <a:txBody>
                    <a:bodyPr/>
                    <a:lstStyle/>
                    <a:p>
                      <a:pPr>
                        <a:defRPr sz="800" b="1">
                          <a:solidFill>
                            <a:srgbClr val="FFFFFF"/>
                          </a:solidFill>
                        </a:defRPr>
                      </a:pPr>
                      <a:r>
                        <a:t>BH median</a:t>
                      </a:r>
                    </a:p>
                  </a:txBody>
                  <a:tcPr anchor="ctr" marL="36576" marR="36576" marT="18288" marB="18288">
                    <a:solidFill>
                      <a:srgbClr val="2E6B9E"/>
                    </a:solidFill>
                  </a:tcPr>
                </a:tc>
                <a:tc>
                  <a:txBody>
                    <a:bodyPr/>
                    <a:lstStyle/>
                    <a:p>
                      <a:pPr>
                        <a:defRPr sz="800" b="1">
                          <a:solidFill>
                            <a:srgbClr val="FFFFFF"/>
                          </a:solidFill>
                        </a:defRPr>
                      </a:pPr>
                      <a:r>
                        <a:t>Benchmark median</a:t>
                      </a:r>
                    </a:p>
                  </a:txBody>
                  <a:tcPr anchor="ctr" marL="36576" marR="36576" marT="18288" marB="18288">
                    <a:solidFill>
                      <a:srgbClr val="2E6B9E"/>
                    </a:solidFill>
                  </a:tcPr>
                </a:tc>
                <a:tc>
                  <a:txBody>
                    <a:bodyPr/>
                    <a:lstStyle/>
                    <a:p>
                      <a:pPr>
                        <a:defRPr sz="800" b="1">
                          <a:solidFill>
                            <a:srgbClr val="FFFFFF"/>
                          </a:solidFill>
                        </a:defRPr>
                      </a:pPr>
                      <a:r>
                        <a:t>Median gap (95% CI)</a:t>
                      </a:r>
                    </a:p>
                  </a:txBody>
                  <a:tcPr anchor="ctr" marL="36576" marR="36576" marT="18288" marB="18288">
                    <a:solidFill>
                      <a:srgbClr val="2E6B9E"/>
                    </a:solidFill>
                  </a:tcPr>
                </a:tc>
                <a:tc>
                  <a:txBody>
                    <a:bodyPr/>
                    <a:lstStyle/>
                    <a:p>
                      <a:pPr>
                        <a:defRPr sz="800" b="1">
                          <a:solidFill>
                            <a:srgbClr val="FFFFFF"/>
                          </a:solidFill>
                        </a:defRPr>
                      </a:pPr>
                      <a:r>
                        <a:t>p-value</a:t>
                      </a:r>
                    </a:p>
                  </a:txBody>
                  <a:tcPr anchor="ctr" marL="36576" marR="36576" marT="18288" marB="18288">
                    <a:solidFill>
                      <a:srgbClr val="2E6B9E"/>
                    </a:solidFill>
                  </a:tcPr>
                </a:tc>
              </a:tr>
              <a:tr h="237744">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Significant</a:t>
                      </a:r>
                    </a:p>
                  </a:txBody>
                  <a:tcPr anchor="ctr" marL="36576" marR="36576" marT="18288" marB="18288"/>
                </a:tc>
                <a:tc>
                  <a:txBody>
                    <a:bodyPr/>
                    <a:lstStyle/>
                    <a:p>
                      <a:pPr>
                        <a:defRPr sz="800">
                          <a:solidFill>
                            <a:srgbClr val="333333"/>
                          </a:solidFill>
                        </a:defRPr>
                      </a:pPr>
                      <a:r>
                        <a:t>$163,367</a:t>
                      </a:r>
                    </a:p>
                  </a:txBody>
                  <a:tcPr anchor="ctr" marL="36576" marR="36576" marT="18288" marB="18288"/>
                </a:tc>
                <a:tc>
                  <a:txBody>
                    <a:bodyPr/>
                    <a:lstStyle/>
                    <a:p>
                      <a:pPr>
                        <a:defRPr sz="800">
                          <a:solidFill>
                            <a:srgbClr val="333333"/>
                          </a:solidFill>
                        </a:defRPr>
                      </a:pPr>
                      <a:r>
                        <a:t>$274,793</a:t>
                      </a:r>
                    </a:p>
                  </a:txBody>
                  <a:tcPr anchor="ctr" marL="36576" marR="36576" marT="18288" marB="18288"/>
                </a:tc>
                <a:tc>
                  <a:txBody>
                    <a:bodyPr/>
                    <a:lstStyle/>
                    <a:p>
                      <a:pPr>
                        <a:defRPr sz="800">
                          <a:solidFill>
                            <a:srgbClr val="333333"/>
                          </a:solidFill>
                        </a:defRPr>
                      </a:pPr>
                      <a:r>
                        <a:t>-$111,426 (95% CI -$345,341 to +$7,163)</a:t>
                      </a:r>
                    </a:p>
                  </a:txBody>
                  <a:tcPr anchor="ctr" marL="36576" marR="36576" marT="18288" marB="18288"/>
                </a:tc>
                <a:tc>
                  <a:txBody>
                    <a:bodyPr/>
                    <a:lstStyle/>
                    <a:p>
                      <a:pPr>
                        <a:defRPr sz="800">
                          <a:solidFill>
                            <a:srgbClr val="333333"/>
                          </a:solidFill>
                        </a:defRPr>
                      </a:pPr>
                      <a:r>
                        <a:t>p = 0.043</a:t>
                      </a:r>
                    </a:p>
                  </a:txBody>
                  <a:tcPr anchor="ctr" marL="36576" marR="36576" marT="18288" marB="18288"/>
                </a:tc>
              </a:tr>
              <a:tr h="237744">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Significant</a:t>
                      </a:r>
                    </a:p>
                  </a:txBody>
                  <a:tcPr anchor="ctr" marL="36576" marR="36576" marT="18288" marB="18288"/>
                </a:tc>
                <a:tc>
                  <a:txBody>
                    <a:bodyPr/>
                    <a:lstStyle/>
                    <a:p>
                      <a:pPr>
                        <a:defRPr sz="800">
                          <a:solidFill>
                            <a:srgbClr val="333333"/>
                          </a:solidFill>
                        </a:defRPr>
                      </a:pPr>
                      <a:r>
                        <a:t>$163,367</a:t>
                      </a:r>
                    </a:p>
                  </a:txBody>
                  <a:tcPr anchor="ctr" marL="36576" marR="36576" marT="18288" marB="18288"/>
                </a:tc>
                <a:tc>
                  <a:txBody>
                    <a:bodyPr/>
                    <a:lstStyle/>
                    <a:p>
                      <a:pPr>
                        <a:defRPr sz="800">
                          <a:solidFill>
                            <a:srgbClr val="333333"/>
                          </a:solidFill>
                        </a:defRPr>
                      </a:pPr>
                      <a:r>
                        <a:t>$468,152</a:t>
                      </a:r>
                    </a:p>
                  </a:txBody>
                  <a:tcPr anchor="ctr" marL="36576" marR="36576" marT="18288" marB="18288"/>
                </a:tc>
                <a:tc>
                  <a:txBody>
                    <a:bodyPr/>
                    <a:lstStyle/>
                    <a:p>
                      <a:pPr>
                        <a:defRPr sz="800">
                          <a:solidFill>
                            <a:srgbClr val="333333"/>
                          </a:solidFill>
                        </a:defRPr>
                      </a:pPr>
                      <a:r>
                        <a:t>-$304,785 (95% CI -$817,302 to -$131,168)</a:t>
                      </a:r>
                    </a:p>
                  </a:txBody>
                  <a:tcPr anchor="ctr" marL="36576" marR="36576" marT="18288" marB="18288"/>
                </a:tc>
                <a:tc>
                  <a:txBody>
                    <a:bodyPr/>
                    <a:lstStyle/>
                    <a:p>
                      <a:pPr>
                        <a:defRPr sz="800">
                          <a:solidFill>
                            <a:srgbClr val="333333"/>
                          </a:solidFill>
                        </a:defRPr>
                      </a:pPr>
                      <a:r>
                        <a:t>p = 0.003</a:t>
                      </a:r>
                    </a:p>
                  </a:txBody>
                  <a:tcPr anchor="ctr" marL="36576" marR="36576" marT="18288" marB="18288"/>
                </a:tc>
              </a:tr>
              <a:tr h="237744">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$163,367</a:t>
                      </a:r>
                    </a:p>
                  </a:txBody>
                  <a:tcPr anchor="ctr" marL="36576" marR="36576" marT="18288" marB="18288"/>
                </a:tc>
                <a:tc>
                  <a:txBody>
                    <a:bodyPr/>
                    <a:lstStyle/>
                    <a:p>
                      <a:pPr>
                        <a:defRPr sz="800">
                          <a:solidFill>
                            <a:srgbClr val="333333"/>
                          </a:solidFill>
                        </a:defRPr>
                      </a:pPr>
                      <a:r>
                        <a:t>$204,951</a:t>
                      </a:r>
                    </a:p>
                  </a:txBody>
                  <a:tcPr anchor="ctr" marL="36576" marR="36576" marT="18288" marB="18288"/>
                </a:tc>
                <a:tc>
                  <a:txBody>
                    <a:bodyPr/>
                    <a:lstStyle/>
                    <a:p>
                      <a:pPr>
                        <a:defRPr sz="800">
                          <a:solidFill>
                            <a:srgbClr val="333333"/>
                          </a:solidFill>
                        </a:defRPr>
                      </a:pPr>
                      <a:r>
                        <a:t>-$41,584 (95% CI -$156,414 to +$89,266)</a:t>
                      </a:r>
                    </a:p>
                  </a:txBody>
                  <a:tcPr anchor="ctr" marL="36576" marR="36576" marT="18288" marB="18288"/>
                </a:tc>
                <a:tc>
                  <a:txBody>
                    <a:bodyPr/>
                    <a:lstStyle/>
                    <a:p>
                      <a:pPr>
                        <a:defRPr sz="800">
                          <a:solidFill>
                            <a:srgbClr val="333333"/>
                          </a:solidFill>
                        </a:defRPr>
                      </a:pPr>
                      <a:r>
                        <a:t>p = 0.507</a:t>
                      </a:r>
                    </a:p>
                  </a:txBody>
                  <a:tcPr anchor="ctr" marL="36576" marR="36576" marT="18288" marB="18288"/>
                </a:tc>
              </a:tr>
              <a:tr h="237744">
                <a:tc>
                  <a:txBody>
                    <a:bodyPr/>
                    <a:lstStyle/>
                    <a:p>
                      <a:pPr>
                        <a:defRPr sz="800">
                          <a:solidFill>
                            <a:srgbClr val="333333"/>
                          </a:solidFill>
                        </a:defRPr>
                      </a:pPr>
                      <a:r>
                        <a:t>Missoula</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$163,367</a:t>
                      </a:r>
                    </a:p>
                  </a:txBody>
                  <a:tcPr anchor="ctr" marL="36576" marR="36576" marT="18288" marB="18288"/>
                </a:tc>
                <a:tc>
                  <a:txBody>
                    <a:bodyPr/>
                    <a:lstStyle/>
                    <a:p>
                      <a:pPr>
                        <a:defRPr sz="800">
                          <a:solidFill>
                            <a:srgbClr val="333333"/>
                          </a:solidFill>
                        </a:defRPr>
                      </a:pPr>
                      <a:r>
                        <a:t>$216,446</a:t>
                      </a:r>
                    </a:p>
                  </a:txBody>
                  <a:tcPr anchor="ctr" marL="36576" marR="36576" marT="18288" marB="18288"/>
                </a:tc>
                <a:tc>
                  <a:txBody>
                    <a:bodyPr/>
                    <a:lstStyle/>
                    <a:p>
                      <a:pPr>
                        <a:defRPr sz="800">
                          <a:solidFill>
                            <a:srgbClr val="333333"/>
                          </a:solidFill>
                        </a:defRPr>
                      </a:pPr>
                      <a:r>
                        <a:t>-$53,078 (95% CI -$292,032 to +$26,850)</a:t>
                      </a:r>
                    </a:p>
                  </a:txBody>
                  <a:tcPr anchor="ctr" marL="36576" marR="36576" marT="18288" marB="18288"/>
                </a:tc>
                <a:tc>
                  <a:txBody>
                    <a:bodyPr/>
                    <a:lstStyle/>
                    <a:p>
                      <a:pPr>
                        <a:defRPr sz="800">
                          <a:solidFill>
                            <a:srgbClr val="333333"/>
                          </a:solidFill>
                        </a:defRPr>
                      </a:pPr>
                      <a:r>
                        <a:t>p = 0.197</a:t>
                      </a:r>
                    </a:p>
                  </a:txBody>
                  <a:tcPr anchor="ctr" marL="36576" marR="36576" marT="18288" marB="18288"/>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Federated campaign contributions</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7</a:t>
            </a:r>
          </a:p>
        </p:txBody>
      </p:sp>
      <p:sp>
        <p:nvSpPr>
          <p:cNvPr id="5" name="TextBox 4"/>
          <p:cNvSpPr txBox="1"/>
          <p:nvPr/>
        </p:nvSpPr>
        <p:spPr>
          <a:xfrm>
            <a:off x="457200" y="960120"/>
            <a:ext cx="11277295" cy="308610"/>
          </a:xfrm>
          <a:prstGeom prst="rect">
            <a:avLst/>
          </a:prstGeom>
          <a:noFill/>
        </p:spPr>
        <p:txBody>
          <a:bodyPr wrap="square" anchor="t">
            <a:noAutofit/>
          </a:bodyPr>
          <a:lstStyle/>
          <a:p>
            <a:pPr>
              <a:defRPr sz="900" b="0" i="0">
                <a:solidFill>
                  <a:srgbClr val="333333"/>
                </a:solidFill>
              </a:defRPr>
            </a:pPr>
            <a:r>
              <a:t>Pairwise comparison of conditional medians for organizations with a positive value for this source (zeros excluded). Headline test: two-sided permutation on the median difference.</a:t>
            </a:r>
          </a:p>
        </p:txBody>
      </p:sp>
      <p:pic>
        <p:nvPicPr>
          <p:cNvPr id="6" name="Picture 5" descr="client_2022_pairwise_positive_median_federated_campaigns.png"/>
          <p:cNvPicPr>
            <a:picLocks noChangeAspect="1"/>
          </p:cNvPicPr>
          <p:nvPr/>
        </p:nvPicPr>
        <p:blipFill>
          <a:blip r:embed="rId2"/>
          <a:stretch>
            <a:fillRect/>
          </a:stretch>
        </p:blipFill>
        <p:spPr>
          <a:xfrm>
            <a:off x="3023012" y="1360170"/>
            <a:ext cx="6145671" cy="3403853"/>
          </a:xfrm>
          <a:prstGeom prst="rect">
            <a:avLst/>
          </a:prstGeom>
        </p:spPr>
      </p:pic>
      <p:graphicFrame>
        <p:nvGraphicFramePr>
          <p:cNvPr id="7" name="Table 6"/>
          <p:cNvGraphicFramePr>
            <a:graphicFrameLocks noGrp="1"/>
          </p:cNvGraphicFramePr>
          <p:nvPr/>
        </p:nvGraphicFramePr>
        <p:xfrm>
          <a:off x="457200" y="4855463"/>
          <a:ext cx="11277295" cy="118872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237744">
                <a:tc>
                  <a:txBody>
                    <a:bodyPr/>
                    <a:lstStyle/>
                    <a:p>
                      <a:pPr>
                        <a:defRPr sz="800" b="1">
                          <a:solidFill>
                            <a:srgbClr val="FFFFFF"/>
                          </a:solidFill>
                        </a:defRPr>
                      </a:pPr>
                      <a:r>
                        <a:t>Benchmark</a:t>
                      </a:r>
                    </a:p>
                  </a:txBody>
                  <a:tcPr anchor="ctr" marL="36576" marR="36576" marT="18288" marB="18288">
                    <a:solidFill>
                      <a:srgbClr val="2E6B9E"/>
                    </a:solidFill>
                  </a:tcPr>
                </a:tc>
                <a:tc>
                  <a:txBody>
                    <a:bodyPr/>
                    <a:lstStyle/>
                    <a:p>
                      <a:pPr>
                        <a:defRPr sz="800" b="1">
                          <a:solidFill>
                            <a:srgbClr val="FFFFFF"/>
                          </a:solidFill>
                        </a:defRPr>
                      </a:pPr>
                      <a:r>
                        <a:t>Significance</a:t>
                      </a:r>
                    </a:p>
                  </a:txBody>
                  <a:tcPr anchor="ctr" marL="36576" marR="36576" marT="18288" marB="18288">
                    <a:solidFill>
                      <a:srgbClr val="2E6B9E"/>
                    </a:solidFill>
                  </a:tcPr>
                </a:tc>
                <a:tc>
                  <a:txBody>
                    <a:bodyPr/>
                    <a:lstStyle/>
                    <a:p>
                      <a:pPr>
                        <a:defRPr sz="800" b="1">
                          <a:solidFill>
                            <a:srgbClr val="FFFFFF"/>
                          </a:solidFill>
                        </a:defRPr>
                      </a:pPr>
                      <a:r>
                        <a:t>BH median</a:t>
                      </a:r>
                    </a:p>
                  </a:txBody>
                  <a:tcPr anchor="ctr" marL="36576" marR="36576" marT="18288" marB="18288">
                    <a:solidFill>
                      <a:srgbClr val="2E6B9E"/>
                    </a:solidFill>
                  </a:tcPr>
                </a:tc>
                <a:tc>
                  <a:txBody>
                    <a:bodyPr/>
                    <a:lstStyle/>
                    <a:p>
                      <a:pPr>
                        <a:defRPr sz="800" b="1">
                          <a:solidFill>
                            <a:srgbClr val="FFFFFF"/>
                          </a:solidFill>
                        </a:defRPr>
                      </a:pPr>
                      <a:r>
                        <a:t>Benchmark median</a:t>
                      </a:r>
                    </a:p>
                  </a:txBody>
                  <a:tcPr anchor="ctr" marL="36576" marR="36576" marT="18288" marB="18288">
                    <a:solidFill>
                      <a:srgbClr val="2E6B9E"/>
                    </a:solidFill>
                  </a:tcPr>
                </a:tc>
                <a:tc>
                  <a:txBody>
                    <a:bodyPr/>
                    <a:lstStyle/>
                    <a:p>
                      <a:pPr>
                        <a:defRPr sz="800" b="1">
                          <a:solidFill>
                            <a:srgbClr val="FFFFFF"/>
                          </a:solidFill>
                        </a:defRPr>
                      </a:pPr>
                      <a:r>
                        <a:t>Median gap (95% CI)</a:t>
                      </a:r>
                    </a:p>
                  </a:txBody>
                  <a:tcPr anchor="ctr" marL="36576" marR="36576" marT="18288" marB="18288">
                    <a:solidFill>
                      <a:srgbClr val="2E6B9E"/>
                    </a:solidFill>
                  </a:tcPr>
                </a:tc>
                <a:tc>
                  <a:txBody>
                    <a:bodyPr/>
                    <a:lstStyle/>
                    <a:p>
                      <a:pPr>
                        <a:defRPr sz="800" b="1">
                          <a:solidFill>
                            <a:srgbClr val="FFFFFF"/>
                          </a:solidFill>
                        </a:defRPr>
                      </a:pPr>
                      <a:r>
                        <a:t>p-value</a:t>
                      </a:r>
                    </a:p>
                  </a:txBody>
                  <a:tcPr anchor="ctr" marL="36576" marR="36576" marT="18288" marB="18288">
                    <a:solidFill>
                      <a:srgbClr val="2E6B9E"/>
                    </a:solidFill>
                  </a:tcPr>
                </a:tc>
              </a:tr>
              <a:tr h="237744">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$30,096</a:t>
                      </a:r>
                    </a:p>
                  </a:txBody>
                  <a:tcPr anchor="ctr" marL="36576" marR="36576" marT="18288" marB="18288"/>
                </a:tc>
                <a:tc>
                  <a:txBody>
                    <a:bodyPr/>
                    <a:lstStyle/>
                    <a:p>
                      <a:pPr>
                        <a:defRPr sz="800">
                          <a:solidFill>
                            <a:srgbClr val="333333"/>
                          </a:solidFill>
                        </a:defRPr>
                      </a:pPr>
                      <a:r>
                        <a:t>$37,500</a:t>
                      </a:r>
                    </a:p>
                  </a:txBody>
                  <a:tcPr anchor="ctr" marL="36576" marR="36576" marT="18288" marB="18288"/>
                </a:tc>
                <a:tc>
                  <a:txBody>
                    <a:bodyPr/>
                    <a:lstStyle/>
                    <a:p>
                      <a:pPr>
                        <a:defRPr sz="800">
                          <a:solidFill>
                            <a:srgbClr val="333333"/>
                          </a:solidFill>
                        </a:defRPr>
                      </a:pPr>
                      <a:r>
                        <a:t>-$7,404 (95% CI -$41,337 to +$36,319)</a:t>
                      </a:r>
                    </a:p>
                  </a:txBody>
                  <a:tcPr anchor="ctr" marL="36576" marR="36576" marT="18288" marB="18288"/>
                </a:tc>
                <a:tc>
                  <a:txBody>
                    <a:bodyPr/>
                    <a:lstStyle/>
                    <a:p>
                      <a:pPr>
                        <a:defRPr sz="800">
                          <a:solidFill>
                            <a:srgbClr val="333333"/>
                          </a:solidFill>
                        </a:defRPr>
                      </a:pPr>
                      <a:r>
                        <a:t>p = 0.688</a:t>
                      </a:r>
                    </a:p>
                  </a:txBody>
                  <a:tcPr anchor="ctr" marL="36576" marR="36576" marT="18288" marB="18288"/>
                </a:tc>
              </a:tr>
              <a:tr h="237744">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$30,096</a:t>
                      </a:r>
                    </a:p>
                  </a:txBody>
                  <a:tcPr anchor="ctr" marL="36576" marR="36576" marT="18288" marB="18288"/>
                </a:tc>
                <a:tc>
                  <a:txBody>
                    <a:bodyPr/>
                    <a:lstStyle/>
                    <a:p>
                      <a:pPr>
                        <a:defRPr sz="800">
                          <a:solidFill>
                            <a:srgbClr val="333333"/>
                          </a:solidFill>
                        </a:defRPr>
                      </a:pPr>
                      <a:r>
                        <a:t>$2,561</a:t>
                      </a:r>
                    </a:p>
                  </a:txBody>
                  <a:tcPr anchor="ctr" marL="36576" marR="36576" marT="18288" marB="18288"/>
                </a:tc>
                <a:tc>
                  <a:txBody>
                    <a:bodyPr/>
                    <a:lstStyle/>
                    <a:p>
                      <a:pPr>
                        <a:defRPr sz="800">
                          <a:solidFill>
                            <a:srgbClr val="333333"/>
                          </a:solidFill>
                        </a:defRPr>
                      </a:pPr>
                      <a:r>
                        <a:t>+$27,535 (95% CI -$50,214 to +$38,331)</a:t>
                      </a:r>
                    </a:p>
                  </a:txBody>
                  <a:tcPr anchor="ctr" marL="36576" marR="36576" marT="18288" marB="18288"/>
                </a:tc>
                <a:tc>
                  <a:txBody>
                    <a:bodyPr/>
                    <a:lstStyle/>
                    <a:p>
                      <a:pPr>
                        <a:defRPr sz="800">
                          <a:solidFill>
                            <a:srgbClr val="333333"/>
                          </a:solidFill>
                        </a:defRPr>
                      </a:pPr>
                      <a:r>
                        <a:t>p = 0.179</a:t>
                      </a:r>
                    </a:p>
                  </a:txBody>
                  <a:tcPr anchor="ctr" marL="36576" marR="36576" marT="18288" marB="18288"/>
                </a:tc>
              </a:tr>
              <a:tr h="237744">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Significant</a:t>
                      </a:r>
                    </a:p>
                  </a:txBody>
                  <a:tcPr anchor="ctr" marL="36576" marR="36576" marT="18288" marB="18288"/>
                </a:tc>
                <a:tc>
                  <a:txBody>
                    <a:bodyPr/>
                    <a:lstStyle/>
                    <a:p>
                      <a:pPr>
                        <a:defRPr sz="800">
                          <a:solidFill>
                            <a:srgbClr val="333333"/>
                          </a:solidFill>
                        </a:defRPr>
                      </a:pPr>
                      <a:r>
                        <a:t>$30,096</a:t>
                      </a:r>
                    </a:p>
                  </a:txBody>
                  <a:tcPr anchor="ctr" marL="36576" marR="36576" marT="18288" marB="18288"/>
                </a:tc>
                <a:tc>
                  <a:txBody>
                    <a:bodyPr/>
                    <a:lstStyle/>
                    <a:p>
                      <a:pPr>
                        <a:defRPr sz="800">
                          <a:solidFill>
                            <a:srgbClr val="333333"/>
                          </a:solidFill>
                        </a:defRPr>
                      </a:pPr>
                      <a:r>
                        <a:t>$150,655</a:t>
                      </a:r>
                    </a:p>
                  </a:txBody>
                  <a:tcPr anchor="ctr" marL="36576" marR="36576" marT="18288" marB="18288"/>
                </a:tc>
                <a:tc>
                  <a:txBody>
                    <a:bodyPr/>
                    <a:lstStyle/>
                    <a:p>
                      <a:pPr>
                        <a:defRPr sz="800">
                          <a:solidFill>
                            <a:srgbClr val="333333"/>
                          </a:solidFill>
                        </a:defRPr>
                      </a:pPr>
                      <a:r>
                        <a:t>-$120,559 (95% CI -$251,704 to -$58,041)</a:t>
                      </a:r>
                    </a:p>
                  </a:txBody>
                  <a:tcPr anchor="ctr" marL="36576" marR="36576" marT="18288" marB="18288"/>
                </a:tc>
                <a:tc>
                  <a:txBody>
                    <a:bodyPr/>
                    <a:lstStyle/>
                    <a:p>
                      <a:pPr>
                        <a:defRPr sz="800">
                          <a:solidFill>
                            <a:srgbClr val="333333"/>
                          </a:solidFill>
                        </a:defRPr>
                      </a:pPr>
                      <a:r>
                        <a:t>p = 0.005</a:t>
                      </a:r>
                    </a:p>
                  </a:txBody>
                  <a:tcPr anchor="ctr" marL="36576" marR="36576" marT="18288" marB="18288"/>
                </a:tc>
              </a:tr>
              <a:tr h="237744">
                <a:tc>
                  <a:txBody>
                    <a:bodyPr/>
                    <a:lstStyle/>
                    <a:p>
                      <a:pPr>
                        <a:defRPr sz="800">
                          <a:solidFill>
                            <a:srgbClr val="333333"/>
                          </a:solidFill>
                        </a:defRPr>
                      </a:pPr>
                      <a:r>
                        <a:t>Missoula</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$30,096</a:t>
                      </a:r>
                    </a:p>
                  </a:txBody>
                  <a:tcPr anchor="ctr" marL="36576" marR="36576" marT="18288" marB="18288"/>
                </a:tc>
                <a:tc>
                  <a:txBody>
                    <a:bodyPr/>
                    <a:lstStyle/>
                    <a:p>
                      <a:pPr>
                        <a:defRPr sz="800">
                          <a:solidFill>
                            <a:srgbClr val="333333"/>
                          </a:solidFill>
                        </a:defRPr>
                      </a:pPr>
                      <a:r>
                        <a:t>$26,475</a:t>
                      </a:r>
                    </a:p>
                  </a:txBody>
                  <a:tcPr anchor="ctr" marL="36576" marR="36576" marT="18288" marB="18288"/>
                </a:tc>
                <a:tc>
                  <a:txBody>
                    <a:bodyPr/>
                    <a:lstStyle/>
                    <a:p>
                      <a:pPr>
                        <a:defRPr sz="800">
                          <a:solidFill>
                            <a:srgbClr val="333333"/>
                          </a:solidFill>
                        </a:defRPr>
                      </a:pPr>
                      <a:r>
                        <a:t>+$3,621 (95% CI -$374,904 to +$29,973)</a:t>
                      </a:r>
                    </a:p>
                  </a:txBody>
                  <a:tcPr anchor="ctr" marL="36576" marR="36576" marT="18288" marB="18288"/>
                </a:tc>
                <a:tc>
                  <a:txBody>
                    <a:bodyPr/>
                    <a:lstStyle/>
                    <a:p>
                      <a:pPr>
                        <a:defRPr sz="800">
                          <a:solidFill>
                            <a:srgbClr val="333333"/>
                          </a:solidFill>
                        </a:defRPr>
                      </a:pPr>
                      <a:r>
                        <a:t>p = 0.819</a:t>
                      </a:r>
                    </a:p>
                  </a:txBody>
                  <a:tcPr anchor="ctr" marL="36576" marR="36576" marT="18288" marB="18288"/>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Related organization contributions</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8</a:t>
            </a:r>
          </a:p>
        </p:txBody>
      </p:sp>
      <p:sp>
        <p:nvSpPr>
          <p:cNvPr id="5" name="TextBox 4"/>
          <p:cNvSpPr txBox="1"/>
          <p:nvPr/>
        </p:nvSpPr>
        <p:spPr>
          <a:xfrm>
            <a:off x="457200" y="960120"/>
            <a:ext cx="11277295" cy="308610"/>
          </a:xfrm>
          <a:prstGeom prst="rect">
            <a:avLst/>
          </a:prstGeom>
          <a:noFill/>
        </p:spPr>
        <p:txBody>
          <a:bodyPr wrap="square" anchor="t">
            <a:noAutofit/>
          </a:bodyPr>
          <a:lstStyle/>
          <a:p>
            <a:pPr>
              <a:defRPr sz="900" b="0" i="0">
                <a:solidFill>
                  <a:srgbClr val="333333"/>
                </a:solidFill>
              </a:defRPr>
            </a:pPr>
            <a:r>
              <a:t>Pairwise comparison of conditional medians for organizations with a positive value for this source (zeros excluded). Headline test: two-sided permutation on the median difference.</a:t>
            </a:r>
          </a:p>
        </p:txBody>
      </p:sp>
      <p:pic>
        <p:nvPicPr>
          <p:cNvPr id="6" name="Picture 5" descr="client_2022_pairwise_positive_median_related_org_contributions.png"/>
          <p:cNvPicPr>
            <a:picLocks noChangeAspect="1"/>
          </p:cNvPicPr>
          <p:nvPr/>
        </p:nvPicPr>
        <p:blipFill>
          <a:blip r:embed="rId2"/>
          <a:stretch>
            <a:fillRect/>
          </a:stretch>
        </p:blipFill>
        <p:spPr>
          <a:xfrm>
            <a:off x="3021450" y="1360170"/>
            <a:ext cx="6148794" cy="3403853"/>
          </a:xfrm>
          <a:prstGeom prst="rect">
            <a:avLst/>
          </a:prstGeom>
        </p:spPr>
      </p:pic>
      <p:graphicFrame>
        <p:nvGraphicFramePr>
          <p:cNvPr id="7" name="Table 6"/>
          <p:cNvGraphicFramePr>
            <a:graphicFrameLocks noGrp="1"/>
          </p:cNvGraphicFramePr>
          <p:nvPr/>
        </p:nvGraphicFramePr>
        <p:xfrm>
          <a:off x="457200" y="4855463"/>
          <a:ext cx="11277295" cy="118872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237744">
                <a:tc>
                  <a:txBody>
                    <a:bodyPr/>
                    <a:lstStyle/>
                    <a:p>
                      <a:pPr>
                        <a:defRPr sz="800" b="1">
                          <a:solidFill>
                            <a:srgbClr val="FFFFFF"/>
                          </a:solidFill>
                        </a:defRPr>
                      </a:pPr>
                      <a:r>
                        <a:t>Benchmark</a:t>
                      </a:r>
                    </a:p>
                  </a:txBody>
                  <a:tcPr anchor="ctr" marL="36576" marR="36576" marT="18288" marB="18288">
                    <a:solidFill>
                      <a:srgbClr val="2E6B9E"/>
                    </a:solidFill>
                  </a:tcPr>
                </a:tc>
                <a:tc>
                  <a:txBody>
                    <a:bodyPr/>
                    <a:lstStyle/>
                    <a:p>
                      <a:pPr>
                        <a:defRPr sz="800" b="1">
                          <a:solidFill>
                            <a:srgbClr val="FFFFFF"/>
                          </a:solidFill>
                        </a:defRPr>
                      </a:pPr>
                      <a:r>
                        <a:t>Significance</a:t>
                      </a:r>
                    </a:p>
                  </a:txBody>
                  <a:tcPr anchor="ctr" marL="36576" marR="36576" marT="18288" marB="18288">
                    <a:solidFill>
                      <a:srgbClr val="2E6B9E"/>
                    </a:solidFill>
                  </a:tcPr>
                </a:tc>
                <a:tc>
                  <a:txBody>
                    <a:bodyPr/>
                    <a:lstStyle/>
                    <a:p>
                      <a:pPr>
                        <a:defRPr sz="800" b="1">
                          <a:solidFill>
                            <a:srgbClr val="FFFFFF"/>
                          </a:solidFill>
                        </a:defRPr>
                      </a:pPr>
                      <a:r>
                        <a:t>BH median</a:t>
                      </a:r>
                    </a:p>
                  </a:txBody>
                  <a:tcPr anchor="ctr" marL="36576" marR="36576" marT="18288" marB="18288">
                    <a:solidFill>
                      <a:srgbClr val="2E6B9E"/>
                    </a:solidFill>
                  </a:tcPr>
                </a:tc>
                <a:tc>
                  <a:txBody>
                    <a:bodyPr/>
                    <a:lstStyle/>
                    <a:p>
                      <a:pPr>
                        <a:defRPr sz="800" b="1">
                          <a:solidFill>
                            <a:srgbClr val="FFFFFF"/>
                          </a:solidFill>
                        </a:defRPr>
                      </a:pPr>
                      <a:r>
                        <a:t>Benchmark median</a:t>
                      </a:r>
                    </a:p>
                  </a:txBody>
                  <a:tcPr anchor="ctr" marL="36576" marR="36576" marT="18288" marB="18288">
                    <a:solidFill>
                      <a:srgbClr val="2E6B9E"/>
                    </a:solidFill>
                  </a:tcPr>
                </a:tc>
                <a:tc>
                  <a:txBody>
                    <a:bodyPr/>
                    <a:lstStyle/>
                    <a:p>
                      <a:pPr>
                        <a:defRPr sz="800" b="1">
                          <a:solidFill>
                            <a:srgbClr val="FFFFFF"/>
                          </a:solidFill>
                        </a:defRPr>
                      </a:pPr>
                      <a:r>
                        <a:t>Median gap (95% CI)</a:t>
                      </a:r>
                    </a:p>
                  </a:txBody>
                  <a:tcPr anchor="ctr" marL="36576" marR="36576" marT="18288" marB="18288">
                    <a:solidFill>
                      <a:srgbClr val="2E6B9E"/>
                    </a:solidFill>
                  </a:tcPr>
                </a:tc>
                <a:tc>
                  <a:txBody>
                    <a:bodyPr/>
                    <a:lstStyle/>
                    <a:p>
                      <a:pPr>
                        <a:defRPr sz="800" b="1">
                          <a:solidFill>
                            <a:srgbClr val="FFFFFF"/>
                          </a:solidFill>
                        </a:defRPr>
                      </a:pPr>
                      <a:r>
                        <a:t>p-value</a:t>
                      </a:r>
                    </a:p>
                  </a:txBody>
                  <a:tcPr anchor="ctr" marL="36576" marR="36576" marT="18288" marB="18288">
                    <a:solidFill>
                      <a:srgbClr val="2E6B9E"/>
                    </a:solidFill>
                  </a:tcPr>
                </a:tc>
              </a:tr>
              <a:tr h="237744">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$65,109</a:t>
                      </a:r>
                    </a:p>
                  </a:txBody>
                  <a:tcPr anchor="ctr" marL="36576" marR="36576" marT="18288" marB="18288"/>
                </a:tc>
                <a:tc>
                  <a:txBody>
                    <a:bodyPr/>
                    <a:lstStyle/>
                    <a:p>
                      <a:pPr>
                        <a:defRPr sz="800">
                          <a:solidFill>
                            <a:srgbClr val="333333"/>
                          </a:solidFill>
                        </a:defRPr>
                      </a:pPr>
                      <a:r>
                        <a:t>$43,000</a:t>
                      </a:r>
                    </a:p>
                  </a:txBody>
                  <a:tcPr anchor="ctr" marL="36576" marR="36576" marT="18288" marB="18288"/>
                </a:tc>
                <a:tc>
                  <a:txBody>
                    <a:bodyPr/>
                    <a:lstStyle/>
                    <a:p>
                      <a:pPr>
                        <a:defRPr sz="800">
                          <a:solidFill>
                            <a:srgbClr val="333333"/>
                          </a:solidFill>
                        </a:defRPr>
                      </a:pPr>
                      <a:r>
                        <a:t>+$22,109 (95% CI -$205,000 to +$1,417,018)</a:t>
                      </a:r>
                    </a:p>
                  </a:txBody>
                  <a:tcPr anchor="ctr" marL="36576" marR="36576" marT="18288" marB="18288"/>
                </a:tc>
                <a:tc>
                  <a:txBody>
                    <a:bodyPr/>
                    <a:lstStyle/>
                    <a:p>
                      <a:pPr>
                        <a:defRPr sz="800">
                          <a:solidFill>
                            <a:srgbClr val="333333"/>
                          </a:solidFill>
                        </a:defRPr>
                      </a:pPr>
                      <a:r>
                        <a:t>p = 0.627</a:t>
                      </a:r>
                    </a:p>
                  </a:txBody>
                  <a:tcPr anchor="ctr" marL="36576" marR="36576" marT="18288" marB="18288"/>
                </a:tc>
              </a:tr>
              <a:tr h="237744">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$65,109</a:t>
                      </a:r>
                    </a:p>
                  </a:txBody>
                  <a:tcPr anchor="ctr" marL="36576" marR="36576" marT="18288" marB="18288"/>
                </a:tc>
                <a:tc>
                  <a:txBody>
                    <a:bodyPr/>
                    <a:lstStyle/>
                    <a:p>
                      <a:pPr>
                        <a:defRPr sz="800">
                          <a:solidFill>
                            <a:srgbClr val="333333"/>
                          </a:solidFill>
                        </a:defRPr>
                      </a:pPr>
                      <a:r>
                        <a:t>$310,812</a:t>
                      </a:r>
                    </a:p>
                  </a:txBody>
                  <a:tcPr anchor="ctr" marL="36576" marR="36576" marT="18288" marB="18288"/>
                </a:tc>
                <a:tc>
                  <a:txBody>
                    <a:bodyPr/>
                    <a:lstStyle/>
                    <a:p>
                      <a:pPr>
                        <a:defRPr sz="800">
                          <a:solidFill>
                            <a:srgbClr val="333333"/>
                          </a:solidFill>
                        </a:defRPr>
                      </a:pPr>
                      <a:r>
                        <a:t>-$245,703 (95% CI -$573,240 to +$1,112,196)</a:t>
                      </a:r>
                    </a:p>
                  </a:txBody>
                  <a:tcPr anchor="ctr" marL="36576" marR="36576" marT="18288" marB="18288"/>
                </a:tc>
                <a:tc>
                  <a:txBody>
                    <a:bodyPr/>
                    <a:lstStyle/>
                    <a:p>
                      <a:pPr>
                        <a:defRPr sz="800">
                          <a:solidFill>
                            <a:srgbClr val="333333"/>
                          </a:solidFill>
                        </a:defRPr>
                      </a:pPr>
                      <a:r>
                        <a:t>p = 0.126</a:t>
                      </a:r>
                    </a:p>
                  </a:txBody>
                  <a:tcPr anchor="ctr" marL="36576" marR="36576" marT="18288" marB="18288"/>
                </a:tc>
              </a:tr>
              <a:tr h="237744">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$65,109</a:t>
                      </a:r>
                    </a:p>
                  </a:txBody>
                  <a:tcPr anchor="ctr" marL="36576" marR="36576" marT="18288" marB="18288"/>
                </a:tc>
                <a:tc>
                  <a:txBody>
                    <a:bodyPr/>
                    <a:lstStyle/>
                    <a:p>
                      <a:pPr>
                        <a:defRPr sz="800">
                          <a:solidFill>
                            <a:srgbClr val="333333"/>
                          </a:solidFill>
                        </a:defRPr>
                      </a:pPr>
                      <a:r>
                        <a:t>$233,400</a:t>
                      </a:r>
                    </a:p>
                  </a:txBody>
                  <a:tcPr anchor="ctr" marL="36576" marR="36576" marT="18288" marB="18288"/>
                </a:tc>
                <a:tc>
                  <a:txBody>
                    <a:bodyPr/>
                    <a:lstStyle/>
                    <a:p>
                      <a:pPr>
                        <a:defRPr sz="800">
                          <a:solidFill>
                            <a:srgbClr val="333333"/>
                          </a:solidFill>
                        </a:defRPr>
                      </a:pPr>
                      <a:r>
                        <a:t>-$168,291 (95% CI -$1,493,390 to +$1,137,398)</a:t>
                      </a:r>
                    </a:p>
                  </a:txBody>
                  <a:tcPr anchor="ctr" marL="36576" marR="36576" marT="18288" marB="18288"/>
                </a:tc>
                <a:tc>
                  <a:txBody>
                    <a:bodyPr/>
                    <a:lstStyle/>
                    <a:p>
                      <a:pPr>
                        <a:defRPr sz="800">
                          <a:solidFill>
                            <a:srgbClr val="333333"/>
                          </a:solidFill>
                        </a:defRPr>
                      </a:pPr>
                      <a:r>
                        <a:t>p = 0.203</a:t>
                      </a:r>
                    </a:p>
                  </a:txBody>
                  <a:tcPr anchor="ctr" marL="36576" marR="36576" marT="18288" marB="18288"/>
                </a:tc>
              </a:tr>
              <a:tr h="237744">
                <a:tc>
                  <a:txBody>
                    <a:bodyPr/>
                    <a:lstStyle/>
                    <a:p>
                      <a:pPr>
                        <a:defRPr sz="800">
                          <a:solidFill>
                            <a:srgbClr val="333333"/>
                          </a:solidFill>
                        </a:defRPr>
                      </a:pPr>
                      <a:r>
                        <a:t>Missoula</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$65,109</a:t>
                      </a:r>
                    </a:p>
                  </a:txBody>
                  <a:tcPr anchor="ctr" marL="36576" marR="36576" marT="18288" marB="18288"/>
                </a:tc>
                <a:tc>
                  <a:txBody>
                    <a:bodyPr/>
                    <a:lstStyle/>
                    <a:p>
                      <a:pPr>
                        <a:defRPr sz="800">
                          <a:solidFill>
                            <a:srgbClr val="333333"/>
                          </a:solidFill>
                        </a:defRPr>
                      </a:pPr>
                      <a:r>
                        <a:t>$977,600</a:t>
                      </a:r>
                    </a:p>
                  </a:txBody>
                  <a:tcPr anchor="ctr" marL="36576" marR="36576" marT="18288" marB="18288"/>
                </a:tc>
                <a:tc>
                  <a:txBody>
                    <a:bodyPr/>
                    <a:lstStyle/>
                    <a:p>
                      <a:pPr>
                        <a:defRPr sz="800">
                          <a:solidFill>
                            <a:srgbClr val="333333"/>
                          </a:solidFill>
                        </a:defRPr>
                      </a:pPr>
                      <a:r>
                        <a:t>-$912,491 (95% CI -$3,371,000 to +$150,595)</a:t>
                      </a:r>
                    </a:p>
                  </a:txBody>
                  <a:tcPr anchor="ctr" marL="36576" marR="36576" marT="18288" marB="18288"/>
                </a:tc>
                <a:tc>
                  <a:txBody>
                    <a:bodyPr/>
                    <a:lstStyle/>
                    <a:p>
                      <a:pPr>
                        <a:defRPr sz="800">
                          <a:solidFill>
                            <a:srgbClr val="333333"/>
                          </a:solidFill>
                        </a:defRPr>
                      </a:pPr>
                      <a:r>
                        <a:t>p = 0.173</a:t>
                      </a:r>
                    </a:p>
                  </a:txBody>
                  <a:tcPr anchor="ctr" marL="36576" marR="36576" marT="18288" marB="18288"/>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Membership dues</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9</a:t>
            </a:r>
          </a:p>
        </p:txBody>
      </p:sp>
      <p:sp>
        <p:nvSpPr>
          <p:cNvPr id="5" name="TextBox 4"/>
          <p:cNvSpPr txBox="1"/>
          <p:nvPr/>
        </p:nvSpPr>
        <p:spPr>
          <a:xfrm>
            <a:off x="457200" y="960120"/>
            <a:ext cx="11277295" cy="308610"/>
          </a:xfrm>
          <a:prstGeom prst="rect">
            <a:avLst/>
          </a:prstGeom>
          <a:noFill/>
        </p:spPr>
        <p:txBody>
          <a:bodyPr wrap="square" anchor="t">
            <a:noAutofit/>
          </a:bodyPr>
          <a:lstStyle/>
          <a:p>
            <a:pPr>
              <a:defRPr sz="900" b="0" i="0">
                <a:solidFill>
                  <a:srgbClr val="333333"/>
                </a:solidFill>
              </a:defRPr>
            </a:pPr>
            <a:r>
              <a:t>Pairwise comparison of conditional medians for organizations with a positive value for this source (zeros excluded). Headline test: two-sided permutation on the median difference.</a:t>
            </a:r>
          </a:p>
        </p:txBody>
      </p:sp>
      <p:pic>
        <p:nvPicPr>
          <p:cNvPr id="6" name="Picture 5" descr="client_2022_pairwise_positive_median_membership_dues.png"/>
          <p:cNvPicPr>
            <a:picLocks noChangeAspect="1"/>
          </p:cNvPicPr>
          <p:nvPr/>
        </p:nvPicPr>
        <p:blipFill>
          <a:blip r:embed="rId2"/>
          <a:stretch>
            <a:fillRect/>
          </a:stretch>
        </p:blipFill>
        <p:spPr>
          <a:xfrm>
            <a:off x="3021450" y="1360170"/>
            <a:ext cx="6148794" cy="3403853"/>
          </a:xfrm>
          <a:prstGeom prst="rect">
            <a:avLst/>
          </a:prstGeom>
        </p:spPr>
      </p:pic>
      <p:graphicFrame>
        <p:nvGraphicFramePr>
          <p:cNvPr id="7" name="Table 6"/>
          <p:cNvGraphicFramePr>
            <a:graphicFrameLocks noGrp="1"/>
          </p:cNvGraphicFramePr>
          <p:nvPr/>
        </p:nvGraphicFramePr>
        <p:xfrm>
          <a:off x="457200" y="4855463"/>
          <a:ext cx="11277295" cy="118872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237744">
                <a:tc>
                  <a:txBody>
                    <a:bodyPr/>
                    <a:lstStyle/>
                    <a:p>
                      <a:pPr>
                        <a:defRPr sz="800" b="1">
                          <a:solidFill>
                            <a:srgbClr val="FFFFFF"/>
                          </a:solidFill>
                        </a:defRPr>
                      </a:pPr>
                      <a:r>
                        <a:t>Benchmark</a:t>
                      </a:r>
                    </a:p>
                  </a:txBody>
                  <a:tcPr anchor="ctr" marL="36576" marR="36576" marT="18288" marB="18288">
                    <a:solidFill>
                      <a:srgbClr val="2E6B9E"/>
                    </a:solidFill>
                  </a:tcPr>
                </a:tc>
                <a:tc>
                  <a:txBody>
                    <a:bodyPr/>
                    <a:lstStyle/>
                    <a:p>
                      <a:pPr>
                        <a:defRPr sz="800" b="1">
                          <a:solidFill>
                            <a:srgbClr val="FFFFFF"/>
                          </a:solidFill>
                        </a:defRPr>
                      </a:pPr>
                      <a:r>
                        <a:t>Significance</a:t>
                      </a:r>
                    </a:p>
                  </a:txBody>
                  <a:tcPr anchor="ctr" marL="36576" marR="36576" marT="18288" marB="18288">
                    <a:solidFill>
                      <a:srgbClr val="2E6B9E"/>
                    </a:solidFill>
                  </a:tcPr>
                </a:tc>
                <a:tc>
                  <a:txBody>
                    <a:bodyPr/>
                    <a:lstStyle/>
                    <a:p>
                      <a:pPr>
                        <a:defRPr sz="800" b="1">
                          <a:solidFill>
                            <a:srgbClr val="FFFFFF"/>
                          </a:solidFill>
                        </a:defRPr>
                      </a:pPr>
                      <a:r>
                        <a:t>BH median</a:t>
                      </a:r>
                    </a:p>
                  </a:txBody>
                  <a:tcPr anchor="ctr" marL="36576" marR="36576" marT="18288" marB="18288">
                    <a:solidFill>
                      <a:srgbClr val="2E6B9E"/>
                    </a:solidFill>
                  </a:tcPr>
                </a:tc>
                <a:tc>
                  <a:txBody>
                    <a:bodyPr/>
                    <a:lstStyle/>
                    <a:p>
                      <a:pPr>
                        <a:defRPr sz="800" b="1">
                          <a:solidFill>
                            <a:srgbClr val="FFFFFF"/>
                          </a:solidFill>
                        </a:defRPr>
                      </a:pPr>
                      <a:r>
                        <a:t>Benchmark median</a:t>
                      </a:r>
                    </a:p>
                  </a:txBody>
                  <a:tcPr anchor="ctr" marL="36576" marR="36576" marT="18288" marB="18288">
                    <a:solidFill>
                      <a:srgbClr val="2E6B9E"/>
                    </a:solidFill>
                  </a:tcPr>
                </a:tc>
                <a:tc>
                  <a:txBody>
                    <a:bodyPr/>
                    <a:lstStyle/>
                    <a:p>
                      <a:pPr>
                        <a:defRPr sz="800" b="1">
                          <a:solidFill>
                            <a:srgbClr val="FFFFFF"/>
                          </a:solidFill>
                        </a:defRPr>
                      </a:pPr>
                      <a:r>
                        <a:t>Median gap (95% CI)</a:t>
                      </a:r>
                    </a:p>
                  </a:txBody>
                  <a:tcPr anchor="ctr" marL="36576" marR="36576" marT="18288" marB="18288">
                    <a:solidFill>
                      <a:srgbClr val="2E6B9E"/>
                    </a:solidFill>
                  </a:tcPr>
                </a:tc>
                <a:tc>
                  <a:txBody>
                    <a:bodyPr/>
                    <a:lstStyle/>
                    <a:p>
                      <a:pPr>
                        <a:defRPr sz="800" b="1">
                          <a:solidFill>
                            <a:srgbClr val="FFFFFF"/>
                          </a:solidFill>
                        </a:defRPr>
                      </a:pPr>
                      <a:r>
                        <a:t>p-value</a:t>
                      </a:r>
                    </a:p>
                  </a:txBody>
                  <a:tcPr anchor="ctr" marL="36576" marR="36576" marT="18288" marB="18288">
                    <a:solidFill>
                      <a:srgbClr val="2E6B9E"/>
                    </a:solidFill>
                  </a:tcPr>
                </a:tc>
              </a:tr>
              <a:tr h="237744">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$22,250</a:t>
                      </a:r>
                    </a:p>
                  </a:txBody>
                  <a:tcPr anchor="ctr" marL="36576" marR="36576" marT="18288" marB="18288"/>
                </a:tc>
                <a:tc>
                  <a:txBody>
                    <a:bodyPr/>
                    <a:lstStyle/>
                    <a:p>
                      <a:pPr>
                        <a:defRPr sz="800">
                          <a:solidFill>
                            <a:srgbClr val="333333"/>
                          </a:solidFill>
                        </a:defRPr>
                      </a:pPr>
                      <a:r>
                        <a:t>$31,344</a:t>
                      </a:r>
                    </a:p>
                  </a:txBody>
                  <a:tcPr anchor="ctr" marL="36576" marR="36576" marT="18288" marB="18288"/>
                </a:tc>
                <a:tc>
                  <a:txBody>
                    <a:bodyPr/>
                    <a:lstStyle/>
                    <a:p>
                      <a:pPr>
                        <a:defRPr sz="800">
                          <a:solidFill>
                            <a:srgbClr val="333333"/>
                          </a:solidFill>
                        </a:defRPr>
                      </a:pPr>
                      <a:r>
                        <a:t>-$9,093 (95% CI -$51,928 to +$10,338)</a:t>
                      </a:r>
                    </a:p>
                  </a:txBody>
                  <a:tcPr anchor="ctr" marL="36576" marR="36576" marT="18288" marB="18288"/>
                </a:tc>
                <a:tc>
                  <a:txBody>
                    <a:bodyPr/>
                    <a:lstStyle/>
                    <a:p>
                      <a:pPr>
                        <a:defRPr sz="800">
                          <a:solidFill>
                            <a:srgbClr val="333333"/>
                          </a:solidFill>
                        </a:defRPr>
                      </a:pPr>
                      <a:r>
                        <a:t>p = 0.342</a:t>
                      </a:r>
                    </a:p>
                  </a:txBody>
                  <a:tcPr anchor="ctr" marL="36576" marR="36576" marT="18288" marB="18288"/>
                </a:tc>
              </a:tr>
              <a:tr h="237744">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$22,250</a:t>
                      </a:r>
                    </a:p>
                  </a:txBody>
                  <a:tcPr anchor="ctr" marL="36576" marR="36576" marT="18288" marB="18288"/>
                </a:tc>
                <a:tc>
                  <a:txBody>
                    <a:bodyPr/>
                    <a:lstStyle/>
                    <a:p>
                      <a:pPr>
                        <a:defRPr sz="800">
                          <a:solidFill>
                            <a:srgbClr val="333333"/>
                          </a:solidFill>
                        </a:defRPr>
                      </a:pPr>
                      <a:r>
                        <a:t>$24,606</a:t>
                      </a:r>
                    </a:p>
                  </a:txBody>
                  <a:tcPr anchor="ctr" marL="36576" marR="36576" marT="18288" marB="18288"/>
                </a:tc>
                <a:tc>
                  <a:txBody>
                    <a:bodyPr/>
                    <a:lstStyle/>
                    <a:p>
                      <a:pPr>
                        <a:defRPr sz="800">
                          <a:solidFill>
                            <a:srgbClr val="333333"/>
                          </a:solidFill>
                        </a:defRPr>
                      </a:pPr>
                      <a:r>
                        <a:t>-$2,355 (95% CI -$167,924 to +$21,272)</a:t>
                      </a:r>
                    </a:p>
                  </a:txBody>
                  <a:tcPr anchor="ctr" marL="36576" marR="36576" marT="18288" marB="18288"/>
                </a:tc>
                <a:tc>
                  <a:txBody>
                    <a:bodyPr/>
                    <a:lstStyle/>
                    <a:p>
                      <a:pPr>
                        <a:defRPr sz="800">
                          <a:solidFill>
                            <a:srgbClr val="333333"/>
                          </a:solidFill>
                        </a:defRPr>
                      </a:pPr>
                      <a:r>
                        <a:t>p = 0.832</a:t>
                      </a:r>
                    </a:p>
                  </a:txBody>
                  <a:tcPr anchor="ctr" marL="36576" marR="36576" marT="18288" marB="18288"/>
                </a:tc>
              </a:tr>
              <a:tr h="237744">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$22,250</a:t>
                      </a:r>
                    </a:p>
                  </a:txBody>
                  <a:tcPr anchor="ctr" marL="36576" marR="36576" marT="18288" marB="18288"/>
                </a:tc>
                <a:tc>
                  <a:txBody>
                    <a:bodyPr/>
                    <a:lstStyle/>
                    <a:p>
                      <a:pPr>
                        <a:defRPr sz="800">
                          <a:solidFill>
                            <a:srgbClr val="333333"/>
                          </a:solidFill>
                        </a:defRPr>
                      </a:pPr>
                      <a:r>
                        <a:t>$18,651</a:t>
                      </a:r>
                    </a:p>
                  </a:txBody>
                  <a:tcPr anchor="ctr" marL="36576" marR="36576" marT="18288" marB="18288"/>
                </a:tc>
                <a:tc>
                  <a:txBody>
                    <a:bodyPr/>
                    <a:lstStyle/>
                    <a:p>
                      <a:pPr>
                        <a:defRPr sz="800">
                          <a:solidFill>
                            <a:srgbClr val="333333"/>
                          </a:solidFill>
                        </a:defRPr>
                      </a:pPr>
                      <a:r>
                        <a:t>+$3,600 (95% CI -$54,010 to +$23,295)</a:t>
                      </a:r>
                    </a:p>
                  </a:txBody>
                  <a:tcPr anchor="ctr" marL="36576" marR="36576" marT="18288" marB="18288"/>
                </a:tc>
                <a:tc>
                  <a:txBody>
                    <a:bodyPr/>
                    <a:lstStyle/>
                    <a:p>
                      <a:pPr>
                        <a:defRPr sz="800">
                          <a:solidFill>
                            <a:srgbClr val="333333"/>
                          </a:solidFill>
                        </a:defRPr>
                      </a:pPr>
                      <a:r>
                        <a:t>p = 0.540</a:t>
                      </a:r>
                    </a:p>
                  </a:txBody>
                  <a:tcPr anchor="ctr" marL="36576" marR="36576" marT="18288" marB="18288"/>
                </a:tc>
              </a:tr>
              <a:tr h="237744">
                <a:tc>
                  <a:txBody>
                    <a:bodyPr/>
                    <a:lstStyle/>
                    <a:p>
                      <a:pPr>
                        <a:defRPr sz="800">
                          <a:solidFill>
                            <a:srgbClr val="333333"/>
                          </a:solidFill>
                        </a:defRPr>
                      </a:pPr>
                      <a:r>
                        <a:t>Missoula</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$22,250</a:t>
                      </a:r>
                    </a:p>
                  </a:txBody>
                  <a:tcPr anchor="ctr" marL="36576" marR="36576" marT="18288" marB="18288"/>
                </a:tc>
                <a:tc>
                  <a:txBody>
                    <a:bodyPr/>
                    <a:lstStyle/>
                    <a:p>
                      <a:pPr>
                        <a:defRPr sz="800">
                          <a:solidFill>
                            <a:srgbClr val="333333"/>
                          </a:solidFill>
                        </a:defRPr>
                      </a:pPr>
                      <a:r>
                        <a:t>$29,529</a:t>
                      </a:r>
                    </a:p>
                  </a:txBody>
                  <a:tcPr anchor="ctr" marL="36576" marR="36576" marT="18288" marB="18288"/>
                </a:tc>
                <a:tc>
                  <a:txBody>
                    <a:bodyPr/>
                    <a:lstStyle/>
                    <a:p>
                      <a:pPr>
                        <a:defRPr sz="800">
                          <a:solidFill>
                            <a:srgbClr val="333333"/>
                          </a:solidFill>
                        </a:defRPr>
                      </a:pPr>
                      <a:r>
                        <a:t>-$7,278 (95% CI -$20,952 to +$13,858)</a:t>
                      </a:r>
                    </a:p>
                  </a:txBody>
                  <a:tcPr anchor="ctr" marL="36576" marR="36576" marT="18288" marB="18288"/>
                </a:tc>
                <a:tc>
                  <a:txBody>
                    <a:bodyPr/>
                    <a:lstStyle/>
                    <a:p>
                      <a:pPr>
                        <a:defRPr sz="800">
                          <a:solidFill>
                            <a:srgbClr val="333333"/>
                          </a:solidFill>
                        </a:defRPr>
                      </a:pPr>
                      <a:r>
                        <a:t>p = 0.601</a:t>
                      </a:r>
                    </a:p>
                  </a:txBody>
                  <a:tcPr anchor="ctr" marL="36576" marR="36576" marT="18288" marB="18288"/>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Fundraising event contributions</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10</a:t>
            </a:r>
          </a:p>
        </p:txBody>
      </p:sp>
      <p:sp>
        <p:nvSpPr>
          <p:cNvPr id="5" name="TextBox 4"/>
          <p:cNvSpPr txBox="1"/>
          <p:nvPr/>
        </p:nvSpPr>
        <p:spPr>
          <a:xfrm>
            <a:off x="457200" y="960120"/>
            <a:ext cx="11277295" cy="308610"/>
          </a:xfrm>
          <a:prstGeom prst="rect">
            <a:avLst/>
          </a:prstGeom>
          <a:noFill/>
        </p:spPr>
        <p:txBody>
          <a:bodyPr wrap="square" anchor="t">
            <a:noAutofit/>
          </a:bodyPr>
          <a:lstStyle/>
          <a:p>
            <a:pPr>
              <a:defRPr sz="900" b="0" i="0">
                <a:solidFill>
                  <a:srgbClr val="333333"/>
                </a:solidFill>
              </a:defRPr>
            </a:pPr>
            <a:r>
              <a:t>Pairwise comparison of conditional medians for organizations with a positive value for this source (zeros excluded). Headline test: two-sided permutation on the median difference.</a:t>
            </a:r>
          </a:p>
        </p:txBody>
      </p:sp>
      <p:pic>
        <p:nvPicPr>
          <p:cNvPr id="6" name="Picture 5" descr="client_2022_pairwise_positive_median_fundraising_events_contributions.png"/>
          <p:cNvPicPr>
            <a:picLocks noChangeAspect="1"/>
          </p:cNvPicPr>
          <p:nvPr/>
        </p:nvPicPr>
        <p:blipFill>
          <a:blip r:embed="rId2"/>
          <a:stretch>
            <a:fillRect/>
          </a:stretch>
        </p:blipFill>
        <p:spPr>
          <a:xfrm>
            <a:off x="3023012" y="1360170"/>
            <a:ext cx="6145671" cy="3403853"/>
          </a:xfrm>
          <a:prstGeom prst="rect">
            <a:avLst/>
          </a:prstGeom>
        </p:spPr>
      </p:pic>
      <p:graphicFrame>
        <p:nvGraphicFramePr>
          <p:cNvPr id="7" name="Table 6"/>
          <p:cNvGraphicFramePr>
            <a:graphicFrameLocks noGrp="1"/>
          </p:cNvGraphicFramePr>
          <p:nvPr/>
        </p:nvGraphicFramePr>
        <p:xfrm>
          <a:off x="457200" y="4855463"/>
          <a:ext cx="11277295" cy="118872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237744">
                <a:tc>
                  <a:txBody>
                    <a:bodyPr/>
                    <a:lstStyle/>
                    <a:p>
                      <a:pPr>
                        <a:defRPr sz="800" b="1">
                          <a:solidFill>
                            <a:srgbClr val="FFFFFF"/>
                          </a:solidFill>
                        </a:defRPr>
                      </a:pPr>
                      <a:r>
                        <a:t>Benchmark</a:t>
                      </a:r>
                    </a:p>
                  </a:txBody>
                  <a:tcPr anchor="ctr" marL="36576" marR="36576" marT="18288" marB="18288">
                    <a:solidFill>
                      <a:srgbClr val="2E6B9E"/>
                    </a:solidFill>
                  </a:tcPr>
                </a:tc>
                <a:tc>
                  <a:txBody>
                    <a:bodyPr/>
                    <a:lstStyle/>
                    <a:p>
                      <a:pPr>
                        <a:defRPr sz="800" b="1">
                          <a:solidFill>
                            <a:srgbClr val="FFFFFF"/>
                          </a:solidFill>
                        </a:defRPr>
                      </a:pPr>
                      <a:r>
                        <a:t>Significance</a:t>
                      </a:r>
                    </a:p>
                  </a:txBody>
                  <a:tcPr anchor="ctr" marL="36576" marR="36576" marT="18288" marB="18288">
                    <a:solidFill>
                      <a:srgbClr val="2E6B9E"/>
                    </a:solidFill>
                  </a:tcPr>
                </a:tc>
                <a:tc>
                  <a:txBody>
                    <a:bodyPr/>
                    <a:lstStyle/>
                    <a:p>
                      <a:pPr>
                        <a:defRPr sz="800" b="1">
                          <a:solidFill>
                            <a:srgbClr val="FFFFFF"/>
                          </a:solidFill>
                        </a:defRPr>
                      </a:pPr>
                      <a:r>
                        <a:t>BH median</a:t>
                      </a:r>
                    </a:p>
                  </a:txBody>
                  <a:tcPr anchor="ctr" marL="36576" marR="36576" marT="18288" marB="18288">
                    <a:solidFill>
                      <a:srgbClr val="2E6B9E"/>
                    </a:solidFill>
                  </a:tcPr>
                </a:tc>
                <a:tc>
                  <a:txBody>
                    <a:bodyPr/>
                    <a:lstStyle/>
                    <a:p>
                      <a:pPr>
                        <a:defRPr sz="800" b="1">
                          <a:solidFill>
                            <a:srgbClr val="FFFFFF"/>
                          </a:solidFill>
                        </a:defRPr>
                      </a:pPr>
                      <a:r>
                        <a:t>Benchmark median</a:t>
                      </a:r>
                    </a:p>
                  </a:txBody>
                  <a:tcPr anchor="ctr" marL="36576" marR="36576" marT="18288" marB="18288">
                    <a:solidFill>
                      <a:srgbClr val="2E6B9E"/>
                    </a:solidFill>
                  </a:tcPr>
                </a:tc>
                <a:tc>
                  <a:txBody>
                    <a:bodyPr/>
                    <a:lstStyle/>
                    <a:p>
                      <a:pPr>
                        <a:defRPr sz="800" b="1">
                          <a:solidFill>
                            <a:srgbClr val="FFFFFF"/>
                          </a:solidFill>
                        </a:defRPr>
                      </a:pPr>
                      <a:r>
                        <a:t>Median gap (95% CI)</a:t>
                      </a:r>
                    </a:p>
                  </a:txBody>
                  <a:tcPr anchor="ctr" marL="36576" marR="36576" marT="18288" marB="18288">
                    <a:solidFill>
                      <a:srgbClr val="2E6B9E"/>
                    </a:solidFill>
                  </a:tcPr>
                </a:tc>
                <a:tc>
                  <a:txBody>
                    <a:bodyPr/>
                    <a:lstStyle/>
                    <a:p>
                      <a:pPr>
                        <a:defRPr sz="800" b="1">
                          <a:solidFill>
                            <a:srgbClr val="FFFFFF"/>
                          </a:solidFill>
                        </a:defRPr>
                      </a:pPr>
                      <a:r>
                        <a:t>p-value</a:t>
                      </a:r>
                    </a:p>
                  </a:txBody>
                  <a:tcPr anchor="ctr" marL="36576" marR="36576" marT="18288" marB="18288">
                    <a:solidFill>
                      <a:srgbClr val="2E6B9E"/>
                    </a:solidFill>
                  </a:tcPr>
                </a:tc>
              </a:tr>
              <a:tr h="237744">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Significant</a:t>
                      </a:r>
                    </a:p>
                  </a:txBody>
                  <a:tcPr anchor="ctr" marL="36576" marR="36576" marT="18288" marB="18288"/>
                </a:tc>
                <a:tc>
                  <a:txBody>
                    <a:bodyPr/>
                    <a:lstStyle/>
                    <a:p>
                      <a:pPr>
                        <a:defRPr sz="800">
                          <a:solidFill>
                            <a:srgbClr val="333333"/>
                          </a:solidFill>
                        </a:defRPr>
                      </a:pPr>
                      <a:r>
                        <a:t>$12,427</a:t>
                      </a:r>
                    </a:p>
                  </a:txBody>
                  <a:tcPr anchor="ctr" marL="36576" marR="36576" marT="18288" marB="18288"/>
                </a:tc>
                <a:tc>
                  <a:txBody>
                    <a:bodyPr/>
                    <a:lstStyle/>
                    <a:p>
                      <a:pPr>
                        <a:defRPr sz="800">
                          <a:solidFill>
                            <a:srgbClr val="333333"/>
                          </a:solidFill>
                        </a:defRPr>
                      </a:pPr>
                      <a:r>
                        <a:t>$38,516</a:t>
                      </a:r>
                    </a:p>
                  </a:txBody>
                  <a:tcPr anchor="ctr" marL="36576" marR="36576" marT="18288" marB="18288"/>
                </a:tc>
                <a:tc>
                  <a:txBody>
                    <a:bodyPr/>
                    <a:lstStyle/>
                    <a:p>
                      <a:pPr>
                        <a:defRPr sz="800">
                          <a:solidFill>
                            <a:srgbClr val="333333"/>
                          </a:solidFill>
                        </a:defRPr>
                      </a:pPr>
                      <a:r>
                        <a:t>-$26,088 (95% CI -$64,852 to -$6,639)</a:t>
                      </a:r>
                    </a:p>
                  </a:txBody>
                  <a:tcPr anchor="ctr" marL="36576" marR="36576" marT="18288" marB="18288"/>
                </a:tc>
                <a:tc>
                  <a:txBody>
                    <a:bodyPr/>
                    <a:lstStyle/>
                    <a:p>
                      <a:pPr>
                        <a:defRPr sz="800">
                          <a:solidFill>
                            <a:srgbClr val="333333"/>
                          </a:solidFill>
                        </a:defRPr>
                      </a:pPr>
                      <a:r>
                        <a:t>p = 0.009</a:t>
                      </a:r>
                    </a:p>
                  </a:txBody>
                  <a:tcPr anchor="ctr" marL="36576" marR="36576" marT="18288" marB="18288"/>
                </a:tc>
              </a:tr>
              <a:tr h="237744">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$12,427</a:t>
                      </a:r>
                    </a:p>
                  </a:txBody>
                  <a:tcPr anchor="ctr" marL="36576" marR="36576" marT="18288" marB="18288"/>
                </a:tc>
                <a:tc>
                  <a:txBody>
                    <a:bodyPr/>
                    <a:lstStyle/>
                    <a:p>
                      <a:pPr>
                        <a:defRPr sz="800">
                          <a:solidFill>
                            <a:srgbClr val="333333"/>
                          </a:solidFill>
                        </a:defRPr>
                      </a:pPr>
                      <a:r>
                        <a:t>$11,480</a:t>
                      </a:r>
                    </a:p>
                  </a:txBody>
                  <a:tcPr anchor="ctr" marL="36576" marR="36576" marT="18288" marB="18288"/>
                </a:tc>
                <a:tc>
                  <a:txBody>
                    <a:bodyPr/>
                    <a:lstStyle/>
                    <a:p>
                      <a:pPr>
                        <a:defRPr sz="800">
                          <a:solidFill>
                            <a:srgbClr val="333333"/>
                          </a:solidFill>
                        </a:defRPr>
                      </a:pPr>
                      <a:r>
                        <a:t>+$947 (95% CI -$9,712 to +$13,322)</a:t>
                      </a:r>
                    </a:p>
                  </a:txBody>
                  <a:tcPr anchor="ctr" marL="36576" marR="36576" marT="18288" marB="18288"/>
                </a:tc>
                <a:tc>
                  <a:txBody>
                    <a:bodyPr/>
                    <a:lstStyle/>
                    <a:p>
                      <a:pPr>
                        <a:defRPr sz="800">
                          <a:solidFill>
                            <a:srgbClr val="333333"/>
                          </a:solidFill>
                        </a:defRPr>
                      </a:pPr>
                      <a:r>
                        <a:t>p = 0.849</a:t>
                      </a:r>
                    </a:p>
                  </a:txBody>
                  <a:tcPr anchor="ctr" marL="36576" marR="36576" marT="18288" marB="18288"/>
                </a:tc>
              </a:tr>
              <a:tr h="237744">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Significant</a:t>
                      </a:r>
                    </a:p>
                  </a:txBody>
                  <a:tcPr anchor="ctr" marL="36576" marR="36576" marT="18288" marB="18288"/>
                </a:tc>
                <a:tc>
                  <a:txBody>
                    <a:bodyPr/>
                    <a:lstStyle/>
                    <a:p>
                      <a:pPr>
                        <a:defRPr sz="800">
                          <a:solidFill>
                            <a:srgbClr val="333333"/>
                          </a:solidFill>
                        </a:defRPr>
                      </a:pPr>
                      <a:r>
                        <a:t>$12,427</a:t>
                      </a:r>
                    </a:p>
                  </a:txBody>
                  <a:tcPr anchor="ctr" marL="36576" marR="36576" marT="18288" marB="18288"/>
                </a:tc>
                <a:tc>
                  <a:txBody>
                    <a:bodyPr/>
                    <a:lstStyle/>
                    <a:p>
                      <a:pPr>
                        <a:defRPr sz="800">
                          <a:solidFill>
                            <a:srgbClr val="333333"/>
                          </a:solidFill>
                        </a:defRPr>
                      </a:pPr>
                      <a:r>
                        <a:t>$70,761</a:t>
                      </a:r>
                    </a:p>
                  </a:txBody>
                  <a:tcPr anchor="ctr" marL="36576" marR="36576" marT="18288" marB="18288"/>
                </a:tc>
                <a:tc>
                  <a:txBody>
                    <a:bodyPr/>
                    <a:lstStyle/>
                    <a:p>
                      <a:pPr>
                        <a:defRPr sz="800">
                          <a:solidFill>
                            <a:srgbClr val="333333"/>
                          </a:solidFill>
                        </a:defRPr>
                      </a:pPr>
                      <a:r>
                        <a:t>-$58,334 (95% CI -$80,561 to -$31,388)</a:t>
                      </a:r>
                    </a:p>
                  </a:txBody>
                  <a:tcPr anchor="ctr" marL="36576" marR="36576" marT="18288" marB="18288"/>
                </a:tc>
                <a:tc>
                  <a:txBody>
                    <a:bodyPr/>
                    <a:lstStyle/>
                    <a:p>
                      <a:pPr>
                        <a:defRPr sz="800">
                          <a:solidFill>
                            <a:srgbClr val="333333"/>
                          </a:solidFill>
                        </a:defRPr>
                      </a:pPr>
                      <a:r>
                        <a:t>p &lt; 0.001</a:t>
                      </a:r>
                    </a:p>
                  </a:txBody>
                  <a:tcPr anchor="ctr" marL="36576" marR="36576" marT="18288" marB="18288"/>
                </a:tc>
              </a:tr>
              <a:tr h="237744">
                <a:tc>
                  <a:txBody>
                    <a:bodyPr/>
                    <a:lstStyle/>
                    <a:p>
                      <a:pPr>
                        <a:defRPr sz="800">
                          <a:solidFill>
                            <a:srgbClr val="333333"/>
                          </a:solidFill>
                        </a:defRPr>
                      </a:pPr>
                      <a:r>
                        <a:t>Missoula</a:t>
                      </a:r>
                    </a:p>
                  </a:txBody>
                  <a:tcPr anchor="ctr" marL="36576" marR="36576" marT="18288" marB="18288"/>
                </a:tc>
                <a:tc>
                  <a:txBody>
                    <a:bodyPr/>
                    <a:lstStyle/>
                    <a:p>
                      <a:pPr>
                        <a:defRPr sz="800">
                          <a:solidFill>
                            <a:srgbClr val="333333"/>
                          </a:solidFill>
                        </a:defRPr>
                      </a:pPr>
                      <a:r>
                        <a:t>Significant</a:t>
                      </a:r>
                    </a:p>
                  </a:txBody>
                  <a:tcPr anchor="ctr" marL="36576" marR="36576" marT="18288" marB="18288"/>
                </a:tc>
                <a:tc>
                  <a:txBody>
                    <a:bodyPr/>
                    <a:lstStyle/>
                    <a:p>
                      <a:pPr>
                        <a:defRPr sz="800">
                          <a:solidFill>
                            <a:srgbClr val="333333"/>
                          </a:solidFill>
                        </a:defRPr>
                      </a:pPr>
                      <a:r>
                        <a:t>$12,427</a:t>
                      </a:r>
                    </a:p>
                  </a:txBody>
                  <a:tcPr anchor="ctr" marL="36576" marR="36576" marT="18288" marB="18288"/>
                </a:tc>
                <a:tc>
                  <a:txBody>
                    <a:bodyPr/>
                    <a:lstStyle/>
                    <a:p>
                      <a:pPr>
                        <a:defRPr sz="800">
                          <a:solidFill>
                            <a:srgbClr val="333333"/>
                          </a:solidFill>
                        </a:defRPr>
                      </a:pPr>
                      <a:r>
                        <a:t>$41,756</a:t>
                      </a:r>
                    </a:p>
                  </a:txBody>
                  <a:tcPr anchor="ctr" marL="36576" marR="36576" marT="18288" marB="18288"/>
                </a:tc>
                <a:tc>
                  <a:txBody>
                    <a:bodyPr/>
                    <a:lstStyle/>
                    <a:p>
                      <a:pPr>
                        <a:defRPr sz="800">
                          <a:solidFill>
                            <a:srgbClr val="333333"/>
                          </a:solidFill>
                        </a:defRPr>
                      </a:pPr>
                      <a:r>
                        <a:t>-$29,329 (95% CI -$72,681 to +$1,335)</a:t>
                      </a:r>
                    </a:p>
                  </a:txBody>
                  <a:tcPr anchor="ctr" marL="36576" marR="36576" marT="18288" marB="18288"/>
                </a:tc>
                <a:tc>
                  <a:txBody>
                    <a:bodyPr/>
                    <a:lstStyle/>
                    <a:p>
                      <a:pPr>
                        <a:defRPr sz="800">
                          <a:solidFill>
                            <a:srgbClr val="333333"/>
                          </a:solidFill>
                        </a:defRPr>
                      </a:pPr>
                      <a:r>
                        <a:t>p = 0.010</a:t>
                      </a:r>
                    </a:p>
                  </a:txBody>
                  <a:tcPr anchor="ctr" marL="36576" marR="36576" marT="18288" marB="18288"/>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Mixed / unclassified contributions</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11</a:t>
            </a:r>
          </a:p>
        </p:txBody>
      </p:sp>
      <p:sp>
        <p:nvSpPr>
          <p:cNvPr id="5" name="TextBox 4"/>
          <p:cNvSpPr txBox="1"/>
          <p:nvPr/>
        </p:nvSpPr>
        <p:spPr>
          <a:xfrm>
            <a:off x="457200" y="960120"/>
            <a:ext cx="11277295" cy="308610"/>
          </a:xfrm>
          <a:prstGeom prst="rect">
            <a:avLst/>
          </a:prstGeom>
          <a:noFill/>
        </p:spPr>
        <p:txBody>
          <a:bodyPr wrap="square" anchor="t">
            <a:noAutofit/>
          </a:bodyPr>
          <a:lstStyle/>
          <a:p>
            <a:pPr>
              <a:defRPr sz="900" b="0" i="0">
                <a:solidFill>
                  <a:srgbClr val="333333"/>
                </a:solidFill>
              </a:defRPr>
            </a:pPr>
            <a:r>
              <a:t>Pairwise comparison of conditional medians for organizations with a positive value for this source (zeros excluded). Headline test: two-sided permutation on the median difference.</a:t>
            </a:r>
          </a:p>
        </p:txBody>
      </p:sp>
      <p:pic>
        <p:nvPicPr>
          <p:cNvPr id="6" name="Picture 5" descr="client_2022_pairwise_positive_median_mixed_unclassified_contributions.png"/>
          <p:cNvPicPr>
            <a:picLocks noChangeAspect="1"/>
          </p:cNvPicPr>
          <p:nvPr/>
        </p:nvPicPr>
        <p:blipFill>
          <a:blip r:embed="rId2"/>
          <a:stretch>
            <a:fillRect/>
          </a:stretch>
        </p:blipFill>
        <p:spPr>
          <a:xfrm>
            <a:off x="3021450" y="1360170"/>
            <a:ext cx="6148794" cy="3403853"/>
          </a:xfrm>
          <a:prstGeom prst="rect">
            <a:avLst/>
          </a:prstGeom>
        </p:spPr>
      </p:pic>
      <p:graphicFrame>
        <p:nvGraphicFramePr>
          <p:cNvPr id="7" name="Table 6"/>
          <p:cNvGraphicFramePr>
            <a:graphicFrameLocks noGrp="1"/>
          </p:cNvGraphicFramePr>
          <p:nvPr/>
        </p:nvGraphicFramePr>
        <p:xfrm>
          <a:off x="457200" y="4855463"/>
          <a:ext cx="11277295" cy="118872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237744">
                <a:tc>
                  <a:txBody>
                    <a:bodyPr/>
                    <a:lstStyle/>
                    <a:p>
                      <a:pPr>
                        <a:defRPr sz="800" b="1">
                          <a:solidFill>
                            <a:srgbClr val="FFFFFF"/>
                          </a:solidFill>
                        </a:defRPr>
                      </a:pPr>
                      <a:r>
                        <a:t>Benchmark</a:t>
                      </a:r>
                    </a:p>
                  </a:txBody>
                  <a:tcPr anchor="ctr" marL="36576" marR="36576" marT="18288" marB="18288">
                    <a:solidFill>
                      <a:srgbClr val="2E6B9E"/>
                    </a:solidFill>
                  </a:tcPr>
                </a:tc>
                <a:tc>
                  <a:txBody>
                    <a:bodyPr/>
                    <a:lstStyle/>
                    <a:p>
                      <a:pPr>
                        <a:defRPr sz="800" b="1">
                          <a:solidFill>
                            <a:srgbClr val="FFFFFF"/>
                          </a:solidFill>
                        </a:defRPr>
                      </a:pPr>
                      <a:r>
                        <a:t>Significance</a:t>
                      </a:r>
                    </a:p>
                  </a:txBody>
                  <a:tcPr anchor="ctr" marL="36576" marR="36576" marT="18288" marB="18288">
                    <a:solidFill>
                      <a:srgbClr val="2E6B9E"/>
                    </a:solidFill>
                  </a:tcPr>
                </a:tc>
                <a:tc>
                  <a:txBody>
                    <a:bodyPr/>
                    <a:lstStyle/>
                    <a:p>
                      <a:pPr>
                        <a:defRPr sz="800" b="1">
                          <a:solidFill>
                            <a:srgbClr val="FFFFFF"/>
                          </a:solidFill>
                        </a:defRPr>
                      </a:pPr>
                      <a:r>
                        <a:t>BH median</a:t>
                      </a:r>
                    </a:p>
                  </a:txBody>
                  <a:tcPr anchor="ctr" marL="36576" marR="36576" marT="18288" marB="18288">
                    <a:solidFill>
                      <a:srgbClr val="2E6B9E"/>
                    </a:solidFill>
                  </a:tcPr>
                </a:tc>
                <a:tc>
                  <a:txBody>
                    <a:bodyPr/>
                    <a:lstStyle/>
                    <a:p>
                      <a:pPr>
                        <a:defRPr sz="800" b="1">
                          <a:solidFill>
                            <a:srgbClr val="FFFFFF"/>
                          </a:solidFill>
                        </a:defRPr>
                      </a:pPr>
                      <a:r>
                        <a:t>Benchmark median</a:t>
                      </a:r>
                    </a:p>
                  </a:txBody>
                  <a:tcPr anchor="ctr" marL="36576" marR="36576" marT="18288" marB="18288">
                    <a:solidFill>
                      <a:srgbClr val="2E6B9E"/>
                    </a:solidFill>
                  </a:tcPr>
                </a:tc>
                <a:tc>
                  <a:txBody>
                    <a:bodyPr/>
                    <a:lstStyle/>
                    <a:p>
                      <a:pPr>
                        <a:defRPr sz="800" b="1">
                          <a:solidFill>
                            <a:srgbClr val="FFFFFF"/>
                          </a:solidFill>
                        </a:defRPr>
                      </a:pPr>
                      <a:r>
                        <a:t>Median gap (95% CI)</a:t>
                      </a:r>
                    </a:p>
                  </a:txBody>
                  <a:tcPr anchor="ctr" marL="36576" marR="36576" marT="18288" marB="18288">
                    <a:solidFill>
                      <a:srgbClr val="2E6B9E"/>
                    </a:solidFill>
                  </a:tcPr>
                </a:tc>
                <a:tc>
                  <a:txBody>
                    <a:bodyPr/>
                    <a:lstStyle/>
                    <a:p>
                      <a:pPr>
                        <a:defRPr sz="800" b="1">
                          <a:solidFill>
                            <a:srgbClr val="FFFFFF"/>
                          </a:solidFill>
                        </a:defRPr>
                      </a:pPr>
                      <a:r>
                        <a:t>p-value</a:t>
                      </a:r>
                    </a:p>
                  </a:txBody>
                  <a:tcPr anchor="ctr" marL="36576" marR="36576" marT="18288" marB="18288">
                    <a:solidFill>
                      <a:srgbClr val="2E6B9E"/>
                    </a:solidFill>
                  </a:tcPr>
                </a:tc>
              </a:tr>
              <a:tr h="237744">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$65,792</a:t>
                      </a:r>
                    </a:p>
                  </a:txBody>
                  <a:tcPr anchor="ctr" marL="36576" marR="36576" marT="18288" marB="18288"/>
                </a:tc>
                <a:tc>
                  <a:txBody>
                    <a:bodyPr/>
                    <a:lstStyle/>
                    <a:p>
                      <a:pPr>
                        <a:defRPr sz="800">
                          <a:solidFill>
                            <a:srgbClr val="333333"/>
                          </a:solidFill>
                        </a:defRPr>
                      </a:pPr>
                      <a:r>
                        <a:t>$83,785</a:t>
                      </a:r>
                    </a:p>
                  </a:txBody>
                  <a:tcPr anchor="ctr" marL="36576" marR="36576" marT="18288" marB="18288"/>
                </a:tc>
                <a:tc>
                  <a:txBody>
                    <a:bodyPr/>
                    <a:lstStyle/>
                    <a:p>
                      <a:pPr>
                        <a:defRPr sz="800">
                          <a:solidFill>
                            <a:srgbClr val="333333"/>
                          </a:solidFill>
                        </a:defRPr>
                      </a:pPr>
                      <a:r>
                        <a:t>-$17,992 (95% CI -$49,754 to +$8,827)</a:t>
                      </a:r>
                    </a:p>
                  </a:txBody>
                  <a:tcPr anchor="ctr" marL="36576" marR="36576" marT="18288" marB="18288"/>
                </a:tc>
                <a:tc>
                  <a:txBody>
                    <a:bodyPr/>
                    <a:lstStyle/>
                    <a:p>
                      <a:pPr>
                        <a:defRPr sz="800">
                          <a:solidFill>
                            <a:srgbClr val="333333"/>
                          </a:solidFill>
                        </a:defRPr>
                      </a:pPr>
                      <a:r>
                        <a:t>p = 0.157</a:t>
                      </a:r>
                    </a:p>
                  </a:txBody>
                  <a:tcPr anchor="ctr" marL="36576" marR="36576" marT="18288" marB="18288"/>
                </a:tc>
              </a:tr>
              <a:tr h="237744">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Significant</a:t>
                      </a:r>
                    </a:p>
                  </a:txBody>
                  <a:tcPr anchor="ctr" marL="36576" marR="36576" marT="18288" marB="18288"/>
                </a:tc>
                <a:tc>
                  <a:txBody>
                    <a:bodyPr/>
                    <a:lstStyle/>
                    <a:p>
                      <a:pPr>
                        <a:defRPr sz="800">
                          <a:solidFill>
                            <a:srgbClr val="333333"/>
                          </a:solidFill>
                        </a:defRPr>
                      </a:pPr>
                      <a:r>
                        <a:t>$65,792</a:t>
                      </a:r>
                    </a:p>
                  </a:txBody>
                  <a:tcPr anchor="ctr" marL="36576" marR="36576" marT="18288" marB="18288"/>
                </a:tc>
                <a:tc>
                  <a:txBody>
                    <a:bodyPr/>
                    <a:lstStyle/>
                    <a:p>
                      <a:pPr>
                        <a:defRPr sz="800">
                          <a:solidFill>
                            <a:srgbClr val="333333"/>
                          </a:solidFill>
                        </a:defRPr>
                      </a:pPr>
                      <a:r>
                        <a:t>$92,278</a:t>
                      </a:r>
                    </a:p>
                  </a:txBody>
                  <a:tcPr anchor="ctr" marL="36576" marR="36576" marT="18288" marB="18288"/>
                </a:tc>
                <a:tc>
                  <a:txBody>
                    <a:bodyPr/>
                    <a:lstStyle/>
                    <a:p>
                      <a:pPr>
                        <a:defRPr sz="800">
                          <a:solidFill>
                            <a:srgbClr val="333333"/>
                          </a:solidFill>
                        </a:defRPr>
                      </a:pPr>
                      <a:r>
                        <a:t>-$26,486 (95% CI -$50,596 to -$2,907)</a:t>
                      </a:r>
                    </a:p>
                  </a:txBody>
                  <a:tcPr anchor="ctr" marL="36576" marR="36576" marT="18288" marB="18288"/>
                </a:tc>
                <a:tc>
                  <a:txBody>
                    <a:bodyPr/>
                    <a:lstStyle/>
                    <a:p>
                      <a:pPr>
                        <a:defRPr sz="800">
                          <a:solidFill>
                            <a:srgbClr val="333333"/>
                          </a:solidFill>
                        </a:defRPr>
                      </a:pPr>
                      <a:r>
                        <a:t>p = 0.033</a:t>
                      </a:r>
                    </a:p>
                  </a:txBody>
                  <a:tcPr anchor="ctr" marL="36576" marR="36576" marT="18288" marB="18288"/>
                </a:tc>
              </a:tr>
              <a:tr h="237744">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$65,792</a:t>
                      </a:r>
                    </a:p>
                  </a:txBody>
                  <a:tcPr anchor="ctr" marL="36576" marR="36576" marT="18288" marB="18288"/>
                </a:tc>
                <a:tc>
                  <a:txBody>
                    <a:bodyPr/>
                    <a:lstStyle/>
                    <a:p>
                      <a:pPr>
                        <a:defRPr sz="800">
                          <a:solidFill>
                            <a:srgbClr val="333333"/>
                          </a:solidFill>
                        </a:defRPr>
                      </a:pPr>
                      <a:r>
                        <a:t>$71,005</a:t>
                      </a:r>
                    </a:p>
                  </a:txBody>
                  <a:tcPr anchor="ctr" marL="36576" marR="36576" marT="18288" marB="18288"/>
                </a:tc>
                <a:tc>
                  <a:txBody>
                    <a:bodyPr/>
                    <a:lstStyle/>
                    <a:p>
                      <a:pPr>
                        <a:defRPr sz="800">
                          <a:solidFill>
                            <a:srgbClr val="333333"/>
                          </a:solidFill>
                        </a:defRPr>
                      </a:pPr>
                      <a:r>
                        <a:t>-$5,212 (95% CI -$29,255 to +$15,095)</a:t>
                      </a:r>
                    </a:p>
                  </a:txBody>
                  <a:tcPr anchor="ctr" marL="36576" marR="36576" marT="18288" marB="18288"/>
                </a:tc>
                <a:tc>
                  <a:txBody>
                    <a:bodyPr/>
                    <a:lstStyle/>
                    <a:p>
                      <a:pPr>
                        <a:defRPr sz="800">
                          <a:solidFill>
                            <a:srgbClr val="333333"/>
                          </a:solidFill>
                        </a:defRPr>
                      </a:pPr>
                      <a:r>
                        <a:t>p = 0.619</a:t>
                      </a:r>
                    </a:p>
                  </a:txBody>
                  <a:tcPr anchor="ctr" marL="36576" marR="36576" marT="18288" marB="18288"/>
                </a:tc>
              </a:tr>
              <a:tr h="237744">
                <a:tc>
                  <a:txBody>
                    <a:bodyPr/>
                    <a:lstStyle/>
                    <a:p>
                      <a:pPr>
                        <a:defRPr sz="800">
                          <a:solidFill>
                            <a:srgbClr val="333333"/>
                          </a:solidFill>
                        </a:defRPr>
                      </a:pPr>
                      <a:r>
                        <a:t>Missoula</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$65,792</a:t>
                      </a:r>
                    </a:p>
                  </a:txBody>
                  <a:tcPr anchor="ctr" marL="36576" marR="36576" marT="18288" marB="18288"/>
                </a:tc>
                <a:tc>
                  <a:txBody>
                    <a:bodyPr/>
                    <a:lstStyle/>
                    <a:p>
                      <a:pPr>
                        <a:defRPr sz="800">
                          <a:solidFill>
                            <a:srgbClr val="333333"/>
                          </a:solidFill>
                        </a:defRPr>
                      </a:pPr>
                      <a:r>
                        <a:t>$88,552</a:t>
                      </a:r>
                    </a:p>
                  </a:txBody>
                  <a:tcPr anchor="ctr" marL="36576" marR="36576" marT="18288" marB="18288"/>
                </a:tc>
                <a:tc>
                  <a:txBody>
                    <a:bodyPr/>
                    <a:lstStyle/>
                    <a:p>
                      <a:pPr>
                        <a:defRPr sz="800">
                          <a:solidFill>
                            <a:srgbClr val="333333"/>
                          </a:solidFill>
                        </a:defRPr>
                      </a:pPr>
                      <a:r>
                        <a:t>-$22,760 (95% CI -$58,330 to +$11,256)</a:t>
                      </a:r>
                    </a:p>
                  </a:txBody>
                  <a:tcPr anchor="ctr" marL="36576" marR="36576" marT="18288" marB="18288"/>
                </a:tc>
                <a:tc>
                  <a:txBody>
                    <a:bodyPr/>
                    <a:lstStyle/>
                    <a:p>
                      <a:pPr>
                        <a:defRPr sz="800">
                          <a:solidFill>
                            <a:srgbClr val="333333"/>
                          </a:solidFill>
                        </a:defRPr>
                      </a:pPr>
                      <a:r>
                        <a:t>p = 0.099</a:t>
                      </a:r>
                    </a:p>
                  </a:txBody>
                  <a:tcPr anchor="ctr" marL="36576" marR="36576" marT="18288" marB="18288"/>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502920"/>
          </a:xfrm>
          <a:prstGeom prst="rect">
            <a:avLst/>
          </a:prstGeom>
          <a:noFill/>
        </p:spPr>
        <p:txBody>
          <a:bodyPr wrap="none">
            <a:spAutoFit/>
          </a:bodyPr>
          <a:lstStyle/>
          <a:p>
            <a:pPr>
              <a:defRPr sz="2200" b="1">
                <a:solidFill>
                  <a:srgbClr val="FFFFFF"/>
                </a:solidFill>
              </a:defRPr>
            </a:pPr>
            <a:r>
              <a:t>Other revenue</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12</a:t>
            </a:r>
          </a:p>
        </p:txBody>
      </p:sp>
      <p:sp>
        <p:nvSpPr>
          <p:cNvPr id="5" name="TextBox 4"/>
          <p:cNvSpPr txBox="1"/>
          <p:nvPr/>
        </p:nvSpPr>
        <p:spPr>
          <a:xfrm>
            <a:off x="457200" y="960120"/>
            <a:ext cx="11277295" cy="308610"/>
          </a:xfrm>
          <a:prstGeom prst="rect">
            <a:avLst/>
          </a:prstGeom>
          <a:noFill/>
        </p:spPr>
        <p:txBody>
          <a:bodyPr wrap="square" anchor="t">
            <a:noAutofit/>
          </a:bodyPr>
          <a:lstStyle/>
          <a:p>
            <a:pPr>
              <a:defRPr sz="900" b="0" i="0">
                <a:solidFill>
                  <a:srgbClr val="333333"/>
                </a:solidFill>
              </a:defRPr>
            </a:pPr>
            <a:r>
              <a:t>Pairwise comparison of conditional medians for organizations with a positive value for this source (zeros excluded). Headline test: two-sided permutation on the median difference.</a:t>
            </a:r>
          </a:p>
        </p:txBody>
      </p:sp>
      <p:pic>
        <p:nvPicPr>
          <p:cNvPr id="6" name="Picture 5" descr="client_2022_pairwise_positive_median_residual_other_revenue.png"/>
          <p:cNvPicPr>
            <a:picLocks noChangeAspect="1"/>
          </p:cNvPicPr>
          <p:nvPr/>
        </p:nvPicPr>
        <p:blipFill>
          <a:blip r:embed="rId2"/>
          <a:stretch>
            <a:fillRect/>
          </a:stretch>
        </p:blipFill>
        <p:spPr>
          <a:xfrm>
            <a:off x="3021450" y="1360170"/>
            <a:ext cx="6148794" cy="3403853"/>
          </a:xfrm>
          <a:prstGeom prst="rect">
            <a:avLst/>
          </a:prstGeom>
        </p:spPr>
      </p:pic>
      <p:graphicFrame>
        <p:nvGraphicFramePr>
          <p:cNvPr id="7" name="Table 6"/>
          <p:cNvGraphicFramePr>
            <a:graphicFrameLocks noGrp="1"/>
          </p:cNvGraphicFramePr>
          <p:nvPr/>
        </p:nvGraphicFramePr>
        <p:xfrm>
          <a:off x="457200" y="4855463"/>
          <a:ext cx="11277295" cy="118872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237744">
                <a:tc>
                  <a:txBody>
                    <a:bodyPr/>
                    <a:lstStyle/>
                    <a:p>
                      <a:pPr>
                        <a:defRPr sz="800" b="1">
                          <a:solidFill>
                            <a:srgbClr val="FFFFFF"/>
                          </a:solidFill>
                        </a:defRPr>
                      </a:pPr>
                      <a:r>
                        <a:t>Benchmark</a:t>
                      </a:r>
                    </a:p>
                  </a:txBody>
                  <a:tcPr anchor="ctr" marL="36576" marR="36576" marT="18288" marB="18288">
                    <a:solidFill>
                      <a:srgbClr val="2E6B9E"/>
                    </a:solidFill>
                  </a:tcPr>
                </a:tc>
                <a:tc>
                  <a:txBody>
                    <a:bodyPr/>
                    <a:lstStyle/>
                    <a:p>
                      <a:pPr>
                        <a:defRPr sz="800" b="1">
                          <a:solidFill>
                            <a:srgbClr val="FFFFFF"/>
                          </a:solidFill>
                        </a:defRPr>
                      </a:pPr>
                      <a:r>
                        <a:t>Significance</a:t>
                      </a:r>
                    </a:p>
                  </a:txBody>
                  <a:tcPr anchor="ctr" marL="36576" marR="36576" marT="18288" marB="18288">
                    <a:solidFill>
                      <a:srgbClr val="2E6B9E"/>
                    </a:solidFill>
                  </a:tcPr>
                </a:tc>
                <a:tc>
                  <a:txBody>
                    <a:bodyPr/>
                    <a:lstStyle/>
                    <a:p>
                      <a:pPr>
                        <a:defRPr sz="800" b="1">
                          <a:solidFill>
                            <a:srgbClr val="FFFFFF"/>
                          </a:solidFill>
                        </a:defRPr>
                      </a:pPr>
                      <a:r>
                        <a:t>BH median</a:t>
                      </a:r>
                    </a:p>
                  </a:txBody>
                  <a:tcPr anchor="ctr" marL="36576" marR="36576" marT="18288" marB="18288">
                    <a:solidFill>
                      <a:srgbClr val="2E6B9E"/>
                    </a:solidFill>
                  </a:tcPr>
                </a:tc>
                <a:tc>
                  <a:txBody>
                    <a:bodyPr/>
                    <a:lstStyle/>
                    <a:p>
                      <a:pPr>
                        <a:defRPr sz="800" b="1">
                          <a:solidFill>
                            <a:srgbClr val="FFFFFF"/>
                          </a:solidFill>
                        </a:defRPr>
                      </a:pPr>
                      <a:r>
                        <a:t>Benchmark median</a:t>
                      </a:r>
                    </a:p>
                  </a:txBody>
                  <a:tcPr anchor="ctr" marL="36576" marR="36576" marT="18288" marB="18288">
                    <a:solidFill>
                      <a:srgbClr val="2E6B9E"/>
                    </a:solidFill>
                  </a:tcPr>
                </a:tc>
                <a:tc>
                  <a:txBody>
                    <a:bodyPr/>
                    <a:lstStyle/>
                    <a:p>
                      <a:pPr>
                        <a:defRPr sz="800" b="1">
                          <a:solidFill>
                            <a:srgbClr val="FFFFFF"/>
                          </a:solidFill>
                        </a:defRPr>
                      </a:pPr>
                      <a:r>
                        <a:t>Median gap (95% CI)</a:t>
                      </a:r>
                    </a:p>
                  </a:txBody>
                  <a:tcPr anchor="ctr" marL="36576" marR="36576" marT="18288" marB="18288">
                    <a:solidFill>
                      <a:srgbClr val="2E6B9E"/>
                    </a:solidFill>
                  </a:tcPr>
                </a:tc>
                <a:tc>
                  <a:txBody>
                    <a:bodyPr/>
                    <a:lstStyle/>
                    <a:p>
                      <a:pPr>
                        <a:defRPr sz="800" b="1">
                          <a:solidFill>
                            <a:srgbClr val="FFFFFF"/>
                          </a:solidFill>
                        </a:defRPr>
                      </a:pPr>
                      <a:r>
                        <a:t>p-value</a:t>
                      </a:r>
                    </a:p>
                  </a:txBody>
                  <a:tcPr anchor="ctr" marL="36576" marR="36576" marT="18288" marB="18288">
                    <a:solidFill>
                      <a:srgbClr val="2E6B9E"/>
                    </a:solidFill>
                  </a:tcPr>
                </a:tc>
              </a:tr>
              <a:tr h="237744">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Significant</a:t>
                      </a:r>
                    </a:p>
                  </a:txBody>
                  <a:tcPr anchor="ctr" marL="36576" marR="36576" marT="18288" marB="18288"/>
                </a:tc>
                <a:tc>
                  <a:txBody>
                    <a:bodyPr/>
                    <a:lstStyle/>
                    <a:p>
                      <a:pPr>
                        <a:defRPr sz="800">
                          <a:solidFill>
                            <a:srgbClr val="333333"/>
                          </a:solidFill>
                        </a:defRPr>
                      </a:pPr>
                      <a:r>
                        <a:t>$14,805</a:t>
                      </a:r>
                    </a:p>
                  </a:txBody>
                  <a:tcPr anchor="ctr" marL="36576" marR="36576" marT="18288" marB="18288"/>
                </a:tc>
                <a:tc>
                  <a:txBody>
                    <a:bodyPr/>
                    <a:lstStyle/>
                    <a:p>
                      <a:pPr>
                        <a:defRPr sz="800">
                          <a:solidFill>
                            <a:srgbClr val="333333"/>
                          </a:solidFill>
                        </a:defRPr>
                      </a:pPr>
                      <a:r>
                        <a:t>$27,630</a:t>
                      </a:r>
                    </a:p>
                  </a:txBody>
                  <a:tcPr anchor="ctr" marL="36576" marR="36576" marT="18288" marB="18288"/>
                </a:tc>
                <a:tc>
                  <a:txBody>
                    <a:bodyPr/>
                    <a:lstStyle/>
                    <a:p>
                      <a:pPr>
                        <a:defRPr sz="800">
                          <a:solidFill>
                            <a:srgbClr val="333333"/>
                          </a:solidFill>
                        </a:defRPr>
                      </a:pPr>
                      <a:r>
                        <a:t>-$12,825 (95% CI -$22,923 to -$1,324)</a:t>
                      </a:r>
                    </a:p>
                  </a:txBody>
                  <a:tcPr anchor="ctr" marL="36576" marR="36576" marT="18288" marB="18288"/>
                </a:tc>
                <a:tc>
                  <a:txBody>
                    <a:bodyPr/>
                    <a:lstStyle/>
                    <a:p>
                      <a:pPr>
                        <a:defRPr sz="800">
                          <a:solidFill>
                            <a:srgbClr val="333333"/>
                          </a:solidFill>
                        </a:defRPr>
                      </a:pPr>
                      <a:r>
                        <a:t>p = 0.010</a:t>
                      </a:r>
                    </a:p>
                  </a:txBody>
                  <a:tcPr anchor="ctr" marL="36576" marR="36576" marT="18288" marB="18288"/>
                </a:tc>
              </a:tr>
              <a:tr h="237744">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$14,805</a:t>
                      </a:r>
                    </a:p>
                  </a:txBody>
                  <a:tcPr anchor="ctr" marL="36576" marR="36576" marT="18288" marB="18288"/>
                </a:tc>
                <a:tc>
                  <a:txBody>
                    <a:bodyPr/>
                    <a:lstStyle/>
                    <a:p>
                      <a:pPr>
                        <a:defRPr sz="800">
                          <a:solidFill>
                            <a:srgbClr val="333333"/>
                          </a:solidFill>
                        </a:defRPr>
                      </a:pPr>
                      <a:r>
                        <a:t>$21,811</a:t>
                      </a:r>
                    </a:p>
                  </a:txBody>
                  <a:tcPr anchor="ctr" marL="36576" marR="36576" marT="18288" marB="18288"/>
                </a:tc>
                <a:tc>
                  <a:txBody>
                    <a:bodyPr/>
                    <a:lstStyle/>
                    <a:p>
                      <a:pPr>
                        <a:defRPr sz="800">
                          <a:solidFill>
                            <a:srgbClr val="333333"/>
                          </a:solidFill>
                        </a:defRPr>
                      </a:pPr>
                      <a:r>
                        <a:t>-$7,006 (95% CI -$27,475 to +$6,558)</a:t>
                      </a:r>
                    </a:p>
                  </a:txBody>
                  <a:tcPr anchor="ctr" marL="36576" marR="36576" marT="18288" marB="18288"/>
                </a:tc>
                <a:tc>
                  <a:txBody>
                    <a:bodyPr/>
                    <a:lstStyle/>
                    <a:p>
                      <a:pPr>
                        <a:defRPr sz="800">
                          <a:solidFill>
                            <a:srgbClr val="333333"/>
                          </a:solidFill>
                        </a:defRPr>
                      </a:pPr>
                      <a:r>
                        <a:t>p = 0.292</a:t>
                      </a:r>
                    </a:p>
                  </a:txBody>
                  <a:tcPr anchor="ctr" marL="36576" marR="36576" marT="18288" marB="18288"/>
                </a:tc>
              </a:tr>
              <a:tr h="237744">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Significant</a:t>
                      </a:r>
                    </a:p>
                  </a:txBody>
                  <a:tcPr anchor="ctr" marL="36576" marR="36576" marT="18288" marB="18288"/>
                </a:tc>
                <a:tc>
                  <a:txBody>
                    <a:bodyPr/>
                    <a:lstStyle/>
                    <a:p>
                      <a:pPr>
                        <a:defRPr sz="800">
                          <a:solidFill>
                            <a:srgbClr val="333333"/>
                          </a:solidFill>
                        </a:defRPr>
                      </a:pPr>
                      <a:r>
                        <a:t>$14,805</a:t>
                      </a:r>
                    </a:p>
                  </a:txBody>
                  <a:tcPr anchor="ctr" marL="36576" marR="36576" marT="18288" marB="18288"/>
                </a:tc>
                <a:tc>
                  <a:txBody>
                    <a:bodyPr/>
                    <a:lstStyle/>
                    <a:p>
                      <a:pPr>
                        <a:defRPr sz="800">
                          <a:solidFill>
                            <a:srgbClr val="333333"/>
                          </a:solidFill>
                        </a:defRPr>
                      </a:pPr>
                      <a:r>
                        <a:t>$32,467</a:t>
                      </a:r>
                    </a:p>
                  </a:txBody>
                  <a:tcPr anchor="ctr" marL="36576" marR="36576" marT="18288" marB="18288"/>
                </a:tc>
                <a:tc>
                  <a:txBody>
                    <a:bodyPr/>
                    <a:lstStyle/>
                    <a:p>
                      <a:pPr>
                        <a:defRPr sz="800">
                          <a:solidFill>
                            <a:srgbClr val="333333"/>
                          </a:solidFill>
                        </a:defRPr>
                      </a:pPr>
                      <a:r>
                        <a:t>-$17,662 (95% CI -$25,196 to -$6,938)</a:t>
                      </a:r>
                    </a:p>
                  </a:txBody>
                  <a:tcPr anchor="ctr" marL="36576" marR="36576" marT="18288" marB="18288"/>
                </a:tc>
                <a:tc>
                  <a:txBody>
                    <a:bodyPr/>
                    <a:lstStyle/>
                    <a:p>
                      <a:pPr>
                        <a:defRPr sz="800">
                          <a:solidFill>
                            <a:srgbClr val="333333"/>
                          </a:solidFill>
                        </a:defRPr>
                      </a:pPr>
                      <a:r>
                        <a:t>p = 0.001</a:t>
                      </a:r>
                    </a:p>
                  </a:txBody>
                  <a:tcPr anchor="ctr" marL="36576" marR="36576" marT="18288" marB="18288"/>
                </a:tc>
              </a:tr>
              <a:tr h="237744">
                <a:tc>
                  <a:txBody>
                    <a:bodyPr/>
                    <a:lstStyle/>
                    <a:p>
                      <a:pPr>
                        <a:defRPr sz="800">
                          <a:solidFill>
                            <a:srgbClr val="333333"/>
                          </a:solidFill>
                        </a:defRPr>
                      </a:pPr>
                      <a:r>
                        <a:t>Missoula</a:t>
                      </a:r>
                    </a:p>
                  </a:txBody>
                  <a:tcPr anchor="ctr" marL="36576" marR="36576" marT="18288" marB="18288"/>
                </a:tc>
                <a:tc>
                  <a:txBody>
                    <a:bodyPr/>
                    <a:lstStyle/>
                    <a:p>
                      <a:pPr>
                        <a:defRPr sz="800">
                          <a:solidFill>
                            <a:srgbClr val="333333"/>
                          </a:solidFill>
                        </a:defRPr>
                      </a:pPr>
                      <a:r>
                        <a:t>Not significant</a:t>
                      </a:r>
                    </a:p>
                  </a:txBody>
                  <a:tcPr anchor="ctr" marL="36576" marR="36576" marT="18288" marB="18288"/>
                </a:tc>
                <a:tc>
                  <a:txBody>
                    <a:bodyPr/>
                    <a:lstStyle/>
                    <a:p>
                      <a:pPr>
                        <a:defRPr sz="800">
                          <a:solidFill>
                            <a:srgbClr val="333333"/>
                          </a:solidFill>
                        </a:defRPr>
                      </a:pPr>
                      <a:r>
                        <a:t>$14,805</a:t>
                      </a:r>
                    </a:p>
                  </a:txBody>
                  <a:tcPr anchor="ctr" marL="36576" marR="36576" marT="18288" marB="18288"/>
                </a:tc>
                <a:tc>
                  <a:txBody>
                    <a:bodyPr/>
                    <a:lstStyle/>
                    <a:p>
                      <a:pPr>
                        <a:defRPr sz="800">
                          <a:solidFill>
                            <a:srgbClr val="333333"/>
                          </a:solidFill>
                        </a:defRPr>
                      </a:pPr>
                      <a:r>
                        <a:t>$15,612</a:t>
                      </a:r>
                    </a:p>
                  </a:txBody>
                  <a:tcPr anchor="ctr" marL="36576" marR="36576" marT="18288" marB="18288"/>
                </a:tc>
                <a:tc>
                  <a:txBody>
                    <a:bodyPr/>
                    <a:lstStyle/>
                    <a:p>
                      <a:pPr>
                        <a:defRPr sz="800">
                          <a:solidFill>
                            <a:srgbClr val="333333"/>
                          </a:solidFill>
                        </a:defRPr>
                      </a:pPr>
                      <a:r>
                        <a:t>-$807 (95% CI -$8,600 to +$7,563)</a:t>
                      </a:r>
                    </a:p>
                  </a:txBody>
                  <a:tcPr anchor="ctr" marL="36576" marR="36576" marT="18288" marB="18288"/>
                </a:tc>
                <a:tc>
                  <a:txBody>
                    <a:bodyPr/>
                    <a:lstStyle/>
                    <a:p>
                      <a:pPr>
                        <a:defRPr sz="800">
                          <a:solidFill>
                            <a:srgbClr val="333333"/>
                          </a:solidFill>
                        </a:defRPr>
                      </a:pPr>
                      <a:r>
                        <a:t>p = 0.697</a:t>
                      </a:r>
                    </a:p>
                  </a:txBody>
                  <a:tcPr anchor="ctr" marL="36576" marR="36576" marT="18288" marB="18288"/>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457200"/>
          </a:xfrm>
          <a:prstGeom prst="rect">
            <a:avLst/>
          </a:prstGeom>
          <a:noFill/>
        </p:spPr>
        <p:txBody>
          <a:bodyPr wrap="none">
            <a:spAutoFit/>
          </a:bodyPr>
          <a:lstStyle/>
          <a:p>
            <a:pPr>
              <a:defRPr sz="2000" b="1">
                <a:solidFill>
                  <a:srgbClr val="FFFFFF"/>
                </a:solidFill>
              </a:defRPr>
            </a:pPr>
            <a:r>
              <a:t>Sensitivity — including hospitals, universities, and political organizations</a:t>
            </a:r>
          </a:p>
          <a:p>
            <a:pPr>
              <a:defRPr sz="1000">
                <a:solidFill>
                  <a:srgbClr val="D2DCEB"/>
                </a:solidFill>
              </a:defRPr>
            </a:pPr>
            <a:r>
              <a:t>Excluded organizations &amp; headline</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13 · Excluded organizations &amp; headline</a:t>
            </a:r>
          </a:p>
        </p:txBody>
      </p:sp>
      <p:sp>
        <p:nvSpPr>
          <p:cNvPr id="5" name="TextBox 4"/>
          <p:cNvSpPr txBox="1"/>
          <p:nvPr/>
        </p:nvSpPr>
        <p:spPr>
          <a:xfrm>
            <a:off x="457200" y="960120"/>
            <a:ext cx="11277295" cy="565785"/>
          </a:xfrm>
          <a:prstGeom prst="rect">
            <a:avLst/>
          </a:prstGeom>
          <a:noFill/>
        </p:spPr>
        <p:txBody>
          <a:bodyPr wrap="square" anchor="t">
            <a:noAutofit/>
          </a:bodyPr>
          <a:lstStyle/>
          <a:p>
            <a:pPr>
              <a:defRPr sz="1100" b="0" i="0">
                <a:solidFill>
                  <a:srgbClr val="333333"/>
                </a:solidFill>
              </a:defRPr>
            </a:pPr>
            <a:r>
              <a:t>Slides 3–12 use the primary analysis universe, which excludes 25 organization-year records flagged as hospitals, universities, or political organizations (25 unique EINs in 2022) for client-peer comparability. This slide reruns the same positive-reporter permutation-on-median pairwise tests on the full 2022 universe with those organizations included.</a:t>
            </a:r>
          </a:p>
        </p:txBody>
      </p:sp>
      <p:sp>
        <p:nvSpPr>
          <p:cNvPr id="6" name="TextBox 5"/>
          <p:cNvSpPr txBox="1"/>
          <p:nvPr/>
        </p:nvSpPr>
        <p:spPr>
          <a:xfrm>
            <a:off x="457200" y="1617345"/>
            <a:ext cx="11277295" cy="256032"/>
          </a:xfrm>
          <a:prstGeom prst="rect">
            <a:avLst/>
          </a:prstGeom>
          <a:noFill/>
        </p:spPr>
        <p:txBody>
          <a:bodyPr wrap="square" anchor="t">
            <a:noAutofit/>
          </a:bodyPr>
          <a:lstStyle/>
          <a:p>
            <a:pPr>
              <a:defRPr sz="1200" b="1" i="0">
                <a:solidFill>
                  <a:srgbClr val="333333"/>
                </a:solidFill>
              </a:defRPr>
            </a:pPr>
            <a:r>
              <a:t>Excluded organization counts by region (2022 full universe before exclusion)</a:t>
            </a:r>
          </a:p>
        </p:txBody>
      </p:sp>
      <p:graphicFrame>
        <p:nvGraphicFramePr>
          <p:cNvPr id="7" name="Table 6"/>
          <p:cNvGraphicFramePr>
            <a:graphicFrameLocks noGrp="1"/>
          </p:cNvGraphicFramePr>
          <p:nvPr/>
        </p:nvGraphicFramePr>
        <p:xfrm>
          <a:off x="457200" y="1964817"/>
          <a:ext cx="11277295" cy="1645919"/>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274319">
                <a:tc>
                  <a:txBody>
                    <a:bodyPr/>
                    <a:lstStyle/>
                    <a:p>
                      <a:pPr>
                        <a:defRPr sz="900" b="1">
                          <a:solidFill>
                            <a:srgbClr val="FFFFFF"/>
                          </a:solidFill>
                        </a:defRPr>
                      </a:pPr>
                      <a:r>
                        <a:t>Region</a:t>
                      </a:r>
                    </a:p>
                  </a:txBody>
                  <a:tcPr anchor="ctr" marL="36576" marR="36576" marT="18288" marB="18288">
                    <a:solidFill>
                      <a:srgbClr val="2E6B9E"/>
                    </a:solidFill>
                  </a:tcPr>
                </a:tc>
                <a:tc>
                  <a:txBody>
                    <a:bodyPr/>
                    <a:lstStyle/>
                    <a:p>
                      <a:pPr>
                        <a:defRPr sz="900" b="1">
                          <a:solidFill>
                            <a:srgbClr val="FFFFFF"/>
                          </a:solidFill>
                        </a:defRPr>
                      </a:pPr>
                      <a:r>
                        <a:t>Full-universe rows</a:t>
                      </a:r>
                    </a:p>
                  </a:txBody>
                  <a:tcPr anchor="ctr" marL="36576" marR="36576" marT="18288" marB="18288">
                    <a:solidFill>
                      <a:srgbClr val="2E6B9E"/>
                    </a:solidFill>
                  </a:tcPr>
                </a:tc>
                <a:tc>
                  <a:txBody>
                    <a:bodyPr/>
                    <a:lstStyle/>
                    <a:p>
                      <a:pPr>
                        <a:defRPr sz="900" b="1">
                          <a:solidFill>
                            <a:srgbClr val="FFFFFF"/>
                          </a:solidFill>
                        </a:defRPr>
                      </a:pPr>
                      <a:r>
                        <a:t>Excluded special-org rows</a:t>
                      </a:r>
                    </a:p>
                  </a:txBody>
                  <a:tcPr anchor="ctr" marL="36576" marR="36576" marT="18288" marB="18288">
                    <a:solidFill>
                      <a:srgbClr val="2E6B9E"/>
                    </a:solidFill>
                  </a:tcPr>
                </a:tc>
                <a:tc>
                  <a:txBody>
                    <a:bodyPr/>
                    <a:lstStyle/>
                    <a:p>
                      <a:pPr>
                        <a:defRPr sz="900" b="1">
                          <a:solidFill>
                            <a:srgbClr val="FFFFFF"/>
                          </a:solidFill>
                        </a:defRPr>
                      </a:pPr>
                      <a:r>
                        <a:t>Hospitals</a:t>
                      </a:r>
                    </a:p>
                  </a:txBody>
                  <a:tcPr anchor="ctr" marL="36576" marR="36576" marT="18288" marB="18288">
                    <a:solidFill>
                      <a:srgbClr val="2E6B9E"/>
                    </a:solidFill>
                  </a:tcPr>
                </a:tc>
                <a:tc>
                  <a:txBody>
                    <a:bodyPr/>
                    <a:lstStyle/>
                    <a:p>
                      <a:pPr>
                        <a:defRPr sz="900" b="1">
                          <a:solidFill>
                            <a:srgbClr val="FFFFFF"/>
                          </a:solidFill>
                        </a:defRPr>
                      </a:pPr>
                      <a:r>
                        <a:t>Universities</a:t>
                      </a:r>
                    </a:p>
                  </a:txBody>
                  <a:tcPr anchor="ctr" marL="36576" marR="36576" marT="18288" marB="18288">
                    <a:solidFill>
                      <a:srgbClr val="2E6B9E"/>
                    </a:solidFill>
                  </a:tcPr>
                </a:tc>
                <a:tc>
                  <a:txBody>
                    <a:bodyPr/>
                    <a:lstStyle/>
                    <a:p>
                      <a:pPr>
                        <a:defRPr sz="900" b="1">
                          <a:solidFill>
                            <a:srgbClr val="FFFFFF"/>
                          </a:solidFill>
                        </a:defRPr>
                      </a:pPr>
                      <a:r>
                        <a:t>Political</a:t>
                      </a:r>
                    </a:p>
                  </a:txBody>
                  <a:tcPr anchor="ctr" marL="36576" marR="36576" marT="18288" marB="18288">
                    <a:solidFill>
                      <a:srgbClr val="2E6B9E"/>
                    </a:solidFill>
                  </a:tcPr>
                </a:tc>
              </a:tr>
              <a:tr h="274319">
                <a:tc>
                  <a:txBody>
                    <a:bodyPr/>
                    <a:lstStyle/>
                    <a:p>
                      <a:pPr>
                        <a:defRPr sz="900">
                          <a:solidFill>
                            <a:srgbClr val="333333"/>
                          </a:solidFill>
                        </a:defRPr>
                      </a:pPr>
                      <a:r>
                        <a:t>Black Hills</a:t>
                      </a:r>
                    </a:p>
                  </a:txBody>
                  <a:tcPr anchor="ctr" marL="36576" marR="36576" marT="18288" marB="18288"/>
                </a:tc>
                <a:tc>
                  <a:txBody>
                    <a:bodyPr/>
                    <a:lstStyle/>
                    <a:p>
                      <a:pPr>
                        <a:defRPr sz="900">
                          <a:solidFill>
                            <a:srgbClr val="333333"/>
                          </a:solidFill>
                        </a:defRPr>
                      </a:pPr>
                      <a:r>
                        <a:t>423</a:t>
                      </a:r>
                    </a:p>
                  </a:txBody>
                  <a:tcPr anchor="ctr" marL="36576" marR="36576" marT="18288" marB="18288"/>
                </a:tc>
                <a:tc>
                  <a:txBody>
                    <a:bodyPr/>
                    <a:lstStyle/>
                    <a:p>
                      <a:pPr>
                        <a:defRPr sz="900">
                          <a:solidFill>
                            <a:srgbClr val="333333"/>
                          </a:solidFill>
                        </a:defRPr>
                      </a:pPr>
                      <a:r>
                        <a:t>1</a:t>
                      </a:r>
                    </a:p>
                  </a:txBody>
                  <a:tcPr anchor="ctr" marL="36576" marR="36576" marT="18288" marB="18288"/>
                </a:tc>
                <a:tc>
                  <a:txBody>
                    <a:bodyPr/>
                    <a:lstStyle/>
                    <a:p>
                      <a:pPr>
                        <a:defRPr sz="900">
                          <a:solidFill>
                            <a:srgbClr val="333333"/>
                          </a:solidFill>
                        </a:defRPr>
                      </a:pPr>
                      <a:r>
                        <a:t>0</a:t>
                      </a:r>
                    </a:p>
                  </a:txBody>
                  <a:tcPr anchor="ctr" marL="36576" marR="36576" marT="18288" marB="18288"/>
                </a:tc>
                <a:tc>
                  <a:txBody>
                    <a:bodyPr/>
                    <a:lstStyle/>
                    <a:p>
                      <a:pPr>
                        <a:defRPr sz="900">
                          <a:solidFill>
                            <a:srgbClr val="333333"/>
                          </a:solidFill>
                        </a:defRPr>
                      </a:pPr>
                      <a:r>
                        <a:t>1</a:t>
                      </a:r>
                    </a:p>
                  </a:txBody>
                  <a:tcPr anchor="ctr" marL="36576" marR="36576" marT="18288" marB="18288"/>
                </a:tc>
                <a:tc>
                  <a:txBody>
                    <a:bodyPr/>
                    <a:lstStyle/>
                    <a:p>
                      <a:pPr>
                        <a:defRPr sz="900">
                          <a:solidFill>
                            <a:srgbClr val="333333"/>
                          </a:solidFill>
                        </a:defRPr>
                      </a:pPr>
                      <a:r>
                        <a:t>0</a:t>
                      </a:r>
                    </a:p>
                  </a:txBody>
                  <a:tcPr anchor="ctr" marL="36576" marR="36576" marT="18288" marB="18288"/>
                </a:tc>
              </a:tr>
              <a:tr h="274319">
                <a:tc>
                  <a:txBody>
                    <a:bodyPr/>
                    <a:lstStyle/>
                    <a:p>
                      <a:pPr>
                        <a:defRPr sz="900">
                          <a:solidFill>
                            <a:srgbClr val="333333"/>
                          </a:solidFill>
                        </a:defRPr>
                      </a:pPr>
                      <a:r>
                        <a:t>Billings</a:t>
                      </a:r>
                    </a:p>
                  </a:txBody>
                  <a:tcPr anchor="ctr" marL="36576" marR="36576" marT="18288" marB="18288"/>
                </a:tc>
                <a:tc>
                  <a:txBody>
                    <a:bodyPr/>
                    <a:lstStyle/>
                    <a:p>
                      <a:pPr>
                        <a:defRPr sz="900">
                          <a:solidFill>
                            <a:srgbClr val="333333"/>
                          </a:solidFill>
                        </a:defRPr>
                      </a:pPr>
                      <a:r>
                        <a:t>337</a:t>
                      </a:r>
                    </a:p>
                  </a:txBody>
                  <a:tcPr anchor="ctr" marL="36576" marR="36576" marT="18288" marB="18288"/>
                </a:tc>
                <a:tc>
                  <a:txBody>
                    <a:bodyPr/>
                    <a:lstStyle/>
                    <a:p>
                      <a:pPr>
                        <a:defRPr sz="900">
                          <a:solidFill>
                            <a:srgbClr val="333333"/>
                          </a:solidFill>
                        </a:defRPr>
                      </a:pPr>
                      <a:r>
                        <a:t>5</a:t>
                      </a:r>
                    </a:p>
                  </a:txBody>
                  <a:tcPr anchor="ctr" marL="36576" marR="36576" marT="18288" marB="18288"/>
                </a:tc>
                <a:tc>
                  <a:txBody>
                    <a:bodyPr/>
                    <a:lstStyle/>
                    <a:p>
                      <a:pPr>
                        <a:defRPr sz="900">
                          <a:solidFill>
                            <a:srgbClr val="333333"/>
                          </a:solidFill>
                        </a:defRPr>
                      </a:pPr>
                      <a:r>
                        <a:t>4</a:t>
                      </a:r>
                    </a:p>
                  </a:txBody>
                  <a:tcPr anchor="ctr" marL="36576" marR="36576" marT="18288" marB="18288"/>
                </a:tc>
                <a:tc>
                  <a:txBody>
                    <a:bodyPr/>
                    <a:lstStyle/>
                    <a:p>
                      <a:pPr>
                        <a:defRPr sz="900">
                          <a:solidFill>
                            <a:srgbClr val="333333"/>
                          </a:solidFill>
                        </a:defRPr>
                      </a:pPr>
                      <a:r>
                        <a:t>1</a:t>
                      </a:r>
                    </a:p>
                  </a:txBody>
                  <a:tcPr anchor="ctr" marL="36576" marR="36576" marT="18288" marB="18288"/>
                </a:tc>
                <a:tc>
                  <a:txBody>
                    <a:bodyPr/>
                    <a:lstStyle/>
                    <a:p>
                      <a:pPr>
                        <a:defRPr sz="900">
                          <a:solidFill>
                            <a:srgbClr val="333333"/>
                          </a:solidFill>
                        </a:defRPr>
                      </a:pPr>
                      <a:r>
                        <a:t>0</a:t>
                      </a:r>
                    </a:p>
                  </a:txBody>
                  <a:tcPr anchor="ctr" marL="36576" marR="36576" marT="18288" marB="18288"/>
                </a:tc>
              </a:tr>
              <a:tr h="274319">
                <a:tc>
                  <a:txBody>
                    <a:bodyPr/>
                    <a:lstStyle/>
                    <a:p>
                      <a:pPr>
                        <a:defRPr sz="900">
                          <a:solidFill>
                            <a:srgbClr val="333333"/>
                          </a:solidFill>
                        </a:defRPr>
                      </a:pPr>
                      <a:r>
                        <a:t>Flagstaff</a:t>
                      </a:r>
                    </a:p>
                  </a:txBody>
                  <a:tcPr anchor="ctr" marL="36576" marR="36576" marT="18288" marB="18288"/>
                </a:tc>
                <a:tc>
                  <a:txBody>
                    <a:bodyPr/>
                    <a:lstStyle/>
                    <a:p>
                      <a:pPr>
                        <a:defRPr sz="900">
                          <a:solidFill>
                            <a:srgbClr val="333333"/>
                          </a:solidFill>
                        </a:defRPr>
                      </a:pPr>
                      <a:r>
                        <a:t>198</a:t>
                      </a:r>
                    </a:p>
                  </a:txBody>
                  <a:tcPr anchor="ctr" marL="36576" marR="36576" marT="18288" marB="18288"/>
                </a:tc>
                <a:tc>
                  <a:txBody>
                    <a:bodyPr/>
                    <a:lstStyle/>
                    <a:p>
                      <a:pPr>
                        <a:defRPr sz="900">
                          <a:solidFill>
                            <a:srgbClr val="333333"/>
                          </a:solidFill>
                        </a:defRPr>
                      </a:pPr>
                      <a:r>
                        <a:t>1</a:t>
                      </a:r>
                    </a:p>
                  </a:txBody>
                  <a:tcPr anchor="ctr" marL="36576" marR="36576" marT="18288" marB="18288"/>
                </a:tc>
                <a:tc>
                  <a:txBody>
                    <a:bodyPr/>
                    <a:lstStyle/>
                    <a:p>
                      <a:pPr>
                        <a:defRPr sz="900">
                          <a:solidFill>
                            <a:srgbClr val="333333"/>
                          </a:solidFill>
                        </a:defRPr>
                      </a:pPr>
                      <a:r>
                        <a:t>1</a:t>
                      </a:r>
                    </a:p>
                  </a:txBody>
                  <a:tcPr anchor="ctr" marL="36576" marR="36576" marT="18288" marB="18288"/>
                </a:tc>
                <a:tc>
                  <a:txBody>
                    <a:bodyPr/>
                    <a:lstStyle/>
                    <a:p>
                      <a:pPr>
                        <a:defRPr sz="900">
                          <a:solidFill>
                            <a:srgbClr val="333333"/>
                          </a:solidFill>
                        </a:defRPr>
                      </a:pPr>
                      <a:r>
                        <a:t>0</a:t>
                      </a:r>
                    </a:p>
                  </a:txBody>
                  <a:tcPr anchor="ctr" marL="36576" marR="36576" marT="18288" marB="18288"/>
                </a:tc>
                <a:tc>
                  <a:txBody>
                    <a:bodyPr/>
                    <a:lstStyle/>
                    <a:p>
                      <a:pPr>
                        <a:defRPr sz="900">
                          <a:solidFill>
                            <a:srgbClr val="333333"/>
                          </a:solidFill>
                        </a:defRPr>
                      </a:pPr>
                      <a:r>
                        <a:t>0</a:t>
                      </a:r>
                    </a:p>
                  </a:txBody>
                  <a:tcPr anchor="ctr" marL="36576" marR="36576" marT="18288" marB="18288"/>
                </a:tc>
              </a:tr>
              <a:tr h="274319">
                <a:tc>
                  <a:txBody>
                    <a:bodyPr/>
                    <a:lstStyle/>
                    <a:p>
                      <a:pPr>
                        <a:defRPr sz="900">
                          <a:solidFill>
                            <a:srgbClr val="333333"/>
                          </a:solidFill>
                        </a:defRPr>
                      </a:pPr>
                      <a:r>
                        <a:t>Sioux Falls</a:t>
                      </a:r>
                    </a:p>
                  </a:txBody>
                  <a:tcPr anchor="ctr" marL="36576" marR="36576" marT="18288" marB="18288"/>
                </a:tc>
                <a:tc>
                  <a:txBody>
                    <a:bodyPr/>
                    <a:lstStyle/>
                    <a:p>
                      <a:pPr>
                        <a:defRPr sz="900">
                          <a:solidFill>
                            <a:srgbClr val="333333"/>
                          </a:solidFill>
                        </a:defRPr>
                      </a:pPr>
                      <a:r>
                        <a:t>581</a:t>
                      </a:r>
                    </a:p>
                  </a:txBody>
                  <a:tcPr anchor="ctr" marL="36576" marR="36576" marT="18288" marB="18288"/>
                </a:tc>
                <a:tc>
                  <a:txBody>
                    <a:bodyPr/>
                    <a:lstStyle/>
                    <a:p>
                      <a:pPr>
                        <a:defRPr sz="900">
                          <a:solidFill>
                            <a:srgbClr val="333333"/>
                          </a:solidFill>
                        </a:defRPr>
                      </a:pPr>
                      <a:r>
                        <a:t>16</a:t>
                      </a:r>
                    </a:p>
                  </a:txBody>
                  <a:tcPr anchor="ctr" marL="36576" marR="36576" marT="18288" marB="18288"/>
                </a:tc>
                <a:tc>
                  <a:txBody>
                    <a:bodyPr/>
                    <a:lstStyle/>
                    <a:p>
                      <a:pPr>
                        <a:defRPr sz="900">
                          <a:solidFill>
                            <a:srgbClr val="333333"/>
                          </a:solidFill>
                        </a:defRPr>
                      </a:pPr>
                      <a:r>
                        <a:t>9</a:t>
                      </a:r>
                    </a:p>
                  </a:txBody>
                  <a:tcPr anchor="ctr" marL="36576" marR="36576" marT="18288" marB="18288"/>
                </a:tc>
                <a:tc>
                  <a:txBody>
                    <a:bodyPr/>
                    <a:lstStyle/>
                    <a:p>
                      <a:pPr>
                        <a:defRPr sz="900">
                          <a:solidFill>
                            <a:srgbClr val="333333"/>
                          </a:solidFill>
                        </a:defRPr>
                      </a:pPr>
                      <a:r>
                        <a:t>7</a:t>
                      </a:r>
                    </a:p>
                  </a:txBody>
                  <a:tcPr anchor="ctr" marL="36576" marR="36576" marT="18288" marB="18288"/>
                </a:tc>
                <a:tc>
                  <a:txBody>
                    <a:bodyPr/>
                    <a:lstStyle/>
                    <a:p>
                      <a:pPr>
                        <a:defRPr sz="900">
                          <a:solidFill>
                            <a:srgbClr val="333333"/>
                          </a:solidFill>
                        </a:defRPr>
                      </a:pPr>
                      <a:r>
                        <a:t>0</a:t>
                      </a:r>
                    </a:p>
                  </a:txBody>
                  <a:tcPr anchor="ctr" marL="36576" marR="36576" marT="18288" marB="18288"/>
                </a:tc>
              </a:tr>
              <a:tr h="274324">
                <a:tc>
                  <a:txBody>
                    <a:bodyPr/>
                    <a:lstStyle/>
                    <a:p>
                      <a:pPr>
                        <a:defRPr sz="900">
                          <a:solidFill>
                            <a:srgbClr val="333333"/>
                          </a:solidFill>
                        </a:defRPr>
                      </a:pPr>
                      <a:r>
                        <a:t>Missoula</a:t>
                      </a:r>
                    </a:p>
                  </a:txBody>
                  <a:tcPr anchor="ctr" marL="36576" marR="36576" marT="18288" marB="18288"/>
                </a:tc>
                <a:tc>
                  <a:txBody>
                    <a:bodyPr/>
                    <a:lstStyle/>
                    <a:p>
                      <a:pPr>
                        <a:defRPr sz="900">
                          <a:solidFill>
                            <a:srgbClr val="333333"/>
                          </a:solidFill>
                        </a:defRPr>
                      </a:pPr>
                      <a:r>
                        <a:t>285</a:t>
                      </a:r>
                    </a:p>
                  </a:txBody>
                  <a:tcPr anchor="ctr" marL="36576" marR="36576" marT="18288" marB="18288"/>
                </a:tc>
                <a:tc>
                  <a:txBody>
                    <a:bodyPr/>
                    <a:lstStyle/>
                    <a:p>
                      <a:pPr>
                        <a:defRPr sz="900">
                          <a:solidFill>
                            <a:srgbClr val="333333"/>
                          </a:solidFill>
                        </a:defRPr>
                      </a:pPr>
                      <a:r>
                        <a:t>2</a:t>
                      </a:r>
                    </a:p>
                  </a:txBody>
                  <a:tcPr anchor="ctr" marL="36576" marR="36576" marT="18288" marB="18288"/>
                </a:tc>
                <a:tc>
                  <a:txBody>
                    <a:bodyPr/>
                    <a:lstStyle/>
                    <a:p>
                      <a:pPr>
                        <a:defRPr sz="900">
                          <a:solidFill>
                            <a:srgbClr val="333333"/>
                          </a:solidFill>
                        </a:defRPr>
                      </a:pPr>
                      <a:r>
                        <a:t>1</a:t>
                      </a:r>
                    </a:p>
                  </a:txBody>
                  <a:tcPr anchor="ctr" marL="36576" marR="36576" marT="18288" marB="18288"/>
                </a:tc>
                <a:tc>
                  <a:txBody>
                    <a:bodyPr/>
                    <a:lstStyle/>
                    <a:p>
                      <a:pPr>
                        <a:defRPr sz="900">
                          <a:solidFill>
                            <a:srgbClr val="333333"/>
                          </a:solidFill>
                        </a:defRPr>
                      </a:pPr>
                      <a:r>
                        <a:t>0</a:t>
                      </a:r>
                    </a:p>
                  </a:txBody>
                  <a:tcPr anchor="ctr" marL="36576" marR="36576" marT="18288" marB="18288"/>
                </a:tc>
                <a:tc>
                  <a:txBody>
                    <a:bodyPr/>
                    <a:lstStyle/>
                    <a:p>
                      <a:pPr>
                        <a:defRPr sz="900">
                          <a:solidFill>
                            <a:srgbClr val="333333"/>
                          </a:solidFill>
                        </a:defRPr>
                      </a:pPr>
                      <a:r>
                        <a:t>1</a:t>
                      </a:r>
                    </a:p>
                  </a:txBody>
                  <a:tcPr anchor="ctr" marL="36576" marR="36576" marT="18288" marB="18288"/>
                </a:tc>
              </a:tr>
            </a:tbl>
          </a:graphicData>
        </a:graphic>
      </p:graphicFrame>
      <p:sp>
        <p:nvSpPr>
          <p:cNvPr id="8" name="TextBox 7"/>
          <p:cNvSpPr txBox="1"/>
          <p:nvPr/>
        </p:nvSpPr>
        <p:spPr>
          <a:xfrm>
            <a:off x="457200" y="3702176"/>
            <a:ext cx="11277295" cy="256032"/>
          </a:xfrm>
          <a:prstGeom prst="rect">
            <a:avLst/>
          </a:prstGeom>
          <a:noFill/>
        </p:spPr>
        <p:txBody>
          <a:bodyPr wrap="square" anchor="t">
            <a:noAutofit/>
          </a:bodyPr>
          <a:lstStyle/>
          <a:p>
            <a:pPr>
              <a:defRPr sz="1200" b="1" i="0">
                <a:solidFill>
                  <a:srgbClr val="333333"/>
                </a:solidFill>
              </a:defRPr>
            </a:pPr>
            <a:r>
              <a:t>Headline comparison (40 pairwise tests: 10 sources × 4 benchmarks)</a:t>
            </a:r>
          </a:p>
        </p:txBody>
      </p:sp>
      <p:sp>
        <p:nvSpPr>
          <p:cNvPr id="9" name="TextBox 8"/>
          <p:cNvSpPr txBox="1"/>
          <p:nvPr/>
        </p:nvSpPr>
        <p:spPr>
          <a:xfrm>
            <a:off x="566928" y="4049648"/>
            <a:ext cx="11167567" cy="256032"/>
          </a:xfrm>
          <a:prstGeom prst="rect">
            <a:avLst/>
          </a:prstGeom>
          <a:noFill/>
        </p:spPr>
        <p:txBody>
          <a:bodyPr wrap="square">
            <a:spAutoFit/>
          </a:bodyPr>
          <a:lstStyle/>
          <a:p>
            <a:pPr>
              <a:defRPr sz="1100">
                <a:solidFill>
                  <a:srgbClr val="333333"/>
                </a:solidFill>
              </a:defRPr>
            </a:pPr>
            <a:r>
              <a:t>• Significant at p &lt; 0.05 when excluding special orgs (primary deck): 10</a:t>
            </a:r>
          </a:p>
        </p:txBody>
      </p:sp>
      <p:sp>
        <p:nvSpPr>
          <p:cNvPr id="10" name="TextBox 9"/>
          <p:cNvSpPr txBox="1"/>
          <p:nvPr/>
        </p:nvSpPr>
        <p:spPr>
          <a:xfrm>
            <a:off x="566928" y="4397120"/>
            <a:ext cx="11167567" cy="256032"/>
          </a:xfrm>
          <a:prstGeom prst="rect">
            <a:avLst/>
          </a:prstGeom>
          <a:noFill/>
        </p:spPr>
        <p:txBody>
          <a:bodyPr wrap="square">
            <a:spAutoFit/>
          </a:bodyPr>
          <a:lstStyle/>
          <a:p>
            <a:pPr>
              <a:defRPr sz="1100">
                <a:solidFill>
                  <a:srgbClr val="333333"/>
                </a:solidFill>
              </a:defRPr>
            </a:pPr>
            <a:r>
              <a:t>• Significant at p &lt; 0.05 when including special orgs: 10</a:t>
            </a:r>
          </a:p>
        </p:txBody>
      </p:sp>
      <p:sp>
        <p:nvSpPr>
          <p:cNvPr id="11" name="TextBox 10"/>
          <p:cNvSpPr txBox="1"/>
          <p:nvPr/>
        </p:nvSpPr>
        <p:spPr>
          <a:xfrm>
            <a:off x="566928" y="4744592"/>
            <a:ext cx="11167567" cy="256032"/>
          </a:xfrm>
          <a:prstGeom prst="rect">
            <a:avLst/>
          </a:prstGeom>
          <a:noFill/>
        </p:spPr>
        <p:txBody>
          <a:bodyPr wrap="square">
            <a:spAutoFit/>
          </a:bodyPr>
          <a:lstStyle/>
          <a:p>
            <a:pPr>
              <a:defRPr sz="1100">
                <a:solidFill>
                  <a:srgbClr val="333333"/>
                </a:solidFill>
              </a:defRPr>
            </a:pPr>
            <a:r>
              <a:t>• Direction changes: 0</a:t>
            </a:r>
          </a:p>
        </p:txBody>
      </p:sp>
      <p:sp>
        <p:nvSpPr>
          <p:cNvPr id="12" name="TextBox 11"/>
          <p:cNvSpPr txBox="1"/>
          <p:nvPr/>
        </p:nvSpPr>
        <p:spPr>
          <a:xfrm>
            <a:off x="566928" y="5092064"/>
            <a:ext cx="11167567" cy="256032"/>
          </a:xfrm>
          <a:prstGeom prst="rect">
            <a:avLst/>
          </a:prstGeom>
          <a:noFill/>
        </p:spPr>
        <p:txBody>
          <a:bodyPr wrap="square">
            <a:spAutoFit/>
          </a:bodyPr>
          <a:lstStyle/>
          <a:p>
            <a:pPr>
              <a:defRPr sz="1100">
                <a:solidFill>
                  <a:srgbClr val="333333"/>
                </a:solidFill>
              </a:defRPr>
            </a:pPr>
            <a:r>
              <a:t>• Significance-status changes: 0</a:t>
            </a:r>
          </a:p>
        </p:txBody>
      </p:sp>
      <p:sp>
        <p:nvSpPr>
          <p:cNvPr id="13" name="TextBox 12"/>
          <p:cNvSpPr txBox="1"/>
          <p:nvPr/>
        </p:nvSpPr>
        <p:spPr>
          <a:xfrm>
            <a:off x="566928" y="5439536"/>
            <a:ext cx="11167567" cy="377190"/>
          </a:xfrm>
          <a:prstGeom prst="rect">
            <a:avLst/>
          </a:prstGeom>
          <a:noFill/>
        </p:spPr>
        <p:txBody>
          <a:bodyPr wrap="square">
            <a:spAutoFit/>
          </a:bodyPr>
          <a:lstStyle/>
          <a:p>
            <a:pPr>
              <a:defRPr sz="1100">
                <a:solidFill>
                  <a:srgbClr val="333333"/>
                </a:solidFill>
              </a:defRPr>
            </a:pPr>
            <a:r>
              <a:t>• No pairwise comparison flipped median direction between the two universes; where both versions are comparable, Black Hills vs benchmark stays on the same side of the median.</a:t>
            </a:r>
          </a:p>
        </p:txBody>
      </p:sp>
      <p:sp>
        <p:nvSpPr>
          <p:cNvPr id="14" name="TextBox 13"/>
          <p:cNvSpPr txBox="1"/>
          <p:nvPr/>
        </p:nvSpPr>
        <p:spPr>
          <a:xfrm>
            <a:off x="566928" y="5908166"/>
            <a:ext cx="11167567" cy="256032"/>
          </a:xfrm>
          <a:prstGeom prst="rect">
            <a:avLst/>
          </a:prstGeom>
          <a:noFill/>
        </p:spPr>
        <p:txBody>
          <a:bodyPr wrap="square">
            <a:spAutoFit/>
          </a:bodyPr>
          <a:lstStyle/>
          <a:p>
            <a:pPr>
              <a:defRPr sz="1100">
                <a:solidFill>
                  <a:srgbClr val="333333"/>
                </a:solidFill>
              </a:defRPr>
            </a:pPr>
            <a:r>
              <a:t>• No pairwise comparison crossed the p &lt; 0.05 threshold when special organizations were added back.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457200"/>
          </a:xfrm>
          <a:prstGeom prst="rect">
            <a:avLst/>
          </a:prstGeom>
          <a:noFill/>
        </p:spPr>
        <p:txBody>
          <a:bodyPr wrap="none">
            <a:spAutoFit/>
          </a:bodyPr>
          <a:lstStyle/>
          <a:p>
            <a:pPr>
              <a:defRPr sz="2000" b="1">
                <a:solidFill>
                  <a:srgbClr val="FFFFFF"/>
                </a:solidFill>
              </a:defRPr>
            </a:pPr>
            <a:r>
              <a:t>Sensitivity — including hospitals, universities, and political organizations</a:t>
            </a:r>
          </a:p>
          <a:p>
            <a:pPr>
              <a:defRPr sz="1000">
                <a:solidFill>
                  <a:srgbClr val="D2DCEB"/>
                </a:solidFill>
              </a:defRPr>
            </a:pPr>
            <a:r>
              <a:t>Excluded organizations &amp; headline (continued)</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13 · Excluded organizations &amp; headline (continued)</a:t>
            </a:r>
          </a:p>
        </p:txBody>
      </p:sp>
      <p:sp>
        <p:nvSpPr>
          <p:cNvPr id="5" name="TextBox 4"/>
          <p:cNvSpPr txBox="1"/>
          <p:nvPr/>
        </p:nvSpPr>
        <p:spPr>
          <a:xfrm>
            <a:off x="566928" y="960120"/>
            <a:ext cx="11167567" cy="256032"/>
          </a:xfrm>
          <a:prstGeom prst="rect">
            <a:avLst/>
          </a:prstGeom>
          <a:noFill/>
        </p:spPr>
        <p:txBody>
          <a:bodyPr wrap="square">
            <a:spAutoFit/>
          </a:bodyPr>
          <a:lstStyle/>
          <a:p>
            <a:pPr>
              <a:defRPr sz="1100">
                <a:solidFill>
                  <a:srgbClr val="333333"/>
                </a:solidFill>
              </a:defRPr>
            </a:pPr>
            <a:r>
              <a:t>• All 10 comparisons significant in the primary deck remain significant when hospitals, universities, and political organizations are included.</a:t>
            </a:r>
          </a:p>
        </p:txBody>
      </p:sp>
      <p:sp>
        <p:nvSpPr>
          <p:cNvPr id="6" name="TextBox 5"/>
          <p:cNvSpPr txBox="1"/>
          <p:nvPr/>
        </p:nvSpPr>
        <p:spPr>
          <a:xfrm>
            <a:off x="457200" y="1307592"/>
            <a:ext cx="11277295" cy="256032"/>
          </a:xfrm>
          <a:prstGeom prst="rect">
            <a:avLst/>
          </a:prstGeom>
          <a:noFill/>
        </p:spPr>
        <p:txBody>
          <a:bodyPr wrap="square" anchor="t">
            <a:noAutofit/>
          </a:bodyPr>
          <a:lstStyle/>
          <a:p>
            <a:pPr>
              <a:defRPr sz="1200" b="1" i="0">
                <a:solidFill>
                  <a:srgbClr val="333333"/>
                </a:solidFill>
              </a:defRPr>
            </a:pPr>
            <a:r>
              <a:t>How to use this slide</a:t>
            </a:r>
          </a:p>
        </p:txBody>
      </p:sp>
      <p:sp>
        <p:nvSpPr>
          <p:cNvPr id="7" name="TextBox 6"/>
          <p:cNvSpPr txBox="1"/>
          <p:nvPr/>
        </p:nvSpPr>
        <p:spPr>
          <a:xfrm>
            <a:off x="566928" y="1655064"/>
            <a:ext cx="11167567" cy="256032"/>
          </a:xfrm>
          <a:prstGeom prst="rect">
            <a:avLst/>
          </a:prstGeom>
          <a:noFill/>
        </p:spPr>
        <p:txBody>
          <a:bodyPr wrap="square">
            <a:spAutoFit/>
          </a:bodyPr>
          <a:lstStyle/>
          <a:p>
            <a:pPr>
              <a:defRPr sz="1100">
                <a:solidFill>
                  <a:srgbClr val="333333"/>
                </a:solidFill>
              </a:defRPr>
            </a:pPr>
            <a:r>
              <a:t>• Treat the primary slides as the client-facing conclusion; this slide shows that the exclusion choice does not overturn that story.</a:t>
            </a:r>
          </a:p>
        </p:txBody>
      </p:sp>
      <p:sp>
        <p:nvSpPr>
          <p:cNvPr id="8" name="TextBox 7"/>
          <p:cNvSpPr txBox="1"/>
          <p:nvPr/>
        </p:nvSpPr>
        <p:spPr>
          <a:xfrm>
            <a:off x="566928" y="2002536"/>
            <a:ext cx="11167567" cy="377190"/>
          </a:xfrm>
          <a:prstGeom prst="rect">
            <a:avLst/>
          </a:prstGeom>
          <a:noFill/>
        </p:spPr>
        <p:txBody>
          <a:bodyPr wrap="square">
            <a:spAutoFit/>
          </a:bodyPr>
          <a:lstStyle/>
          <a:p>
            <a:pPr>
              <a:defRPr sz="1100">
                <a:solidFill>
                  <a:srgbClr val="333333"/>
                </a:solidFill>
              </a:defRPr>
            </a:pPr>
            <a:r>
              <a:t>• Most excluded organizations are in Sioux Falls (16 of 25 rows), so Sioux Falls–related p-values shift more than other regions even when significance does not change.</a:t>
            </a:r>
          </a:p>
        </p:txBody>
      </p:sp>
      <p:sp>
        <p:nvSpPr>
          <p:cNvPr id="9" name="TextBox 8"/>
          <p:cNvSpPr txBox="1"/>
          <p:nvPr/>
        </p:nvSpPr>
        <p:spPr>
          <a:xfrm>
            <a:off x="566928" y="2471166"/>
            <a:ext cx="11167567" cy="256032"/>
          </a:xfrm>
          <a:prstGeom prst="rect">
            <a:avLst/>
          </a:prstGeom>
          <a:noFill/>
        </p:spPr>
        <p:txBody>
          <a:bodyPr wrap="square">
            <a:spAutoFit/>
          </a:bodyPr>
          <a:lstStyle/>
          <a:p>
            <a:pPr>
              <a:defRPr sz="1100">
                <a:solidFill>
                  <a:srgbClr val="333333"/>
                </a:solidFill>
              </a:defRPr>
            </a:pPr>
            <a:r>
              <a:t>• The full comparison table is in client_2022_special_org_sensitivity_comparison.csv.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457200"/>
          </a:xfrm>
          <a:prstGeom prst="rect">
            <a:avLst/>
          </a:prstGeom>
          <a:noFill/>
        </p:spPr>
        <p:txBody>
          <a:bodyPr wrap="none">
            <a:spAutoFit/>
          </a:bodyPr>
          <a:lstStyle/>
          <a:p>
            <a:pPr>
              <a:defRPr sz="2000" b="1">
                <a:solidFill>
                  <a:srgbClr val="FFFFFF"/>
                </a:solidFill>
              </a:defRPr>
            </a:pPr>
            <a:r>
              <a:t>Full answer — Is there a difference in revenue sources between Black Hills and benchmark regions?</a:t>
            </a:r>
          </a:p>
          <a:p>
            <a:pPr>
              <a:defRPr sz="1000">
                <a:solidFill>
                  <a:srgbClr val="D2DCEB"/>
                </a:solidFill>
              </a:defRPr>
            </a:pPr>
            <a:r>
              <a:t>Summary &amp; methods</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14 · Summary &amp; methods</a:t>
            </a:r>
          </a:p>
        </p:txBody>
      </p:sp>
      <p:sp>
        <p:nvSpPr>
          <p:cNvPr id="5" name="TextBox 4"/>
          <p:cNvSpPr txBox="1"/>
          <p:nvPr/>
        </p:nvSpPr>
        <p:spPr>
          <a:xfrm>
            <a:off x="457200" y="960120"/>
            <a:ext cx="11277295" cy="256032"/>
          </a:xfrm>
          <a:prstGeom prst="rect">
            <a:avLst/>
          </a:prstGeom>
          <a:noFill/>
        </p:spPr>
        <p:txBody>
          <a:bodyPr wrap="square" anchor="t">
            <a:noAutofit/>
          </a:bodyPr>
          <a:lstStyle/>
          <a:p>
            <a:pPr>
              <a:defRPr sz="1200" b="1" i="0">
                <a:solidFill>
                  <a:srgbClr val="333333"/>
                </a:solidFill>
              </a:defRPr>
            </a:pPr>
            <a:r>
              <a:t>Short answer</a:t>
            </a:r>
          </a:p>
        </p:txBody>
      </p:sp>
      <p:sp>
        <p:nvSpPr>
          <p:cNvPr id="6" name="TextBox 5"/>
          <p:cNvSpPr txBox="1"/>
          <p:nvPr/>
        </p:nvSpPr>
        <p:spPr>
          <a:xfrm>
            <a:off x="457200" y="1307592"/>
            <a:ext cx="11277295" cy="942975"/>
          </a:xfrm>
          <a:prstGeom prst="rect">
            <a:avLst/>
          </a:prstGeom>
          <a:noFill/>
        </p:spPr>
        <p:txBody>
          <a:bodyPr wrap="square" anchor="t">
            <a:noAutofit/>
          </a:bodyPr>
          <a:lstStyle/>
          <a:p>
            <a:pPr>
              <a:defRPr sz="1100" b="0" i="0">
                <a:solidFill>
                  <a:srgbClr val="333333"/>
                </a:solidFill>
              </a:defRPr>
            </a:pPr>
            <a:r>
              <a:t>Yes — for tax year 2022, Black Hills differs from at least one benchmark region on several revenue sources, but the difference is not uniform across all sources or all benchmarks. This deck tests one source at a time using organization-level dollars among organizations that report a positive amount for that source (zeros excluded). Statistical significance comes from a permutation test on the median difference between Black Hills and each benchmark region's positive reporters, with a 95% bootstrap confidence interval reported alongside; pairwise results appear on Slides 3–12 and in the table below.</a:t>
            </a:r>
          </a:p>
        </p:txBody>
      </p:sp>
      <p:sp>
        <p:nvSpPr>
          <p:cNvPr id="7" name="TextBox 6"/>
          <p:cNvSpPr txBox="1"/>
          <p:nvPr/>
        </p:nvSpPr>
        <p:spPr>
          <a:xfrm>
            <a:off x="457200" y="2342007"/>
            <a:ext cx="11277295" cy="256032"/>
          </a:xfrm>
          <a:prstGeom prst="rect">
            <a:avLst/>
          </a:prstGeom>
          <a:noFill/>
        </p:spPr>
        <p:txBody>
          <a:bodyPr wrap="square" anchor="t">
            <a:noAutofit/>
          </a:bodyPr>
          <a:lstStyle/>
          <a:p>
            <a:pPr>
              <a:defRPr sz="1200" b="1" i="0">
                <a:solidFill>
                  <a:srgbClr val="333333"/>
                </a:solidFill>
              </a:defRPr>
            </a:pPr>
            <a:r>
              <a:t>What this presentation tested</a:t>
            </a:r>
          </a:p>
        </p:txBody>
      </p:sp>
      <p:sp>
        <p:nvSpPr>
          <p:cNvPr id="8" name="TextBox 7"/>
          <p:cNvSpPr txBox="1"/>
          <p:nvPr/>
        </p:nvSpPr>
        <p:spPr>
          <a:xfrm>
            <a:off x="566928" y="2689479"/>
            <a:ext cx="11167567" cy="256032"/>
          </a:xfrm>
          <a:prstGeom prst="rect">
            <a:avLst/>
          </a:prstGeom>
          <a:noFill/>
        </p:spPr>
        <p:txBody>
          <a:bodyPr wrap="square">
            <a:spAutoFit/>
          </a:bodyPr>
          <a:lstStyle/>
          <a:p>
            <a:pPr>
              <a:defRPr sz="1100">
                <a:solidFill>
                  <a:srgbClr val="333333"/>
                </a:solidFill>
              </a:defRPr>
            </a:pPr>
            <a:r>
              <a:t>• Question: Do Black Hills nonprofits differ from Billings, Flagstaff, Sioux Falls, and Missoula in how they draw revenue from each source?</a:t>
            </a:r>
          </a:p>
        </p:txBody>
      </p:sp>
      <p:sp>
        <p:nvSpPr>
          <p:cNvPr id="9" name="TextBox 8"/>
          <p:cNvSpPr txBox="1"/>
          <p:nvPr/>
        </p:nvSpPr>
        <p:spPr>
          <a:xfrm>
            <a:off x="566928" y="3036951"/>
            <a:ext cx="11167567" cy="256032"/>
          </a:xfrm>
          <a:prstGeom prst="rect">
            <a:avLst/>
          </a:prstGeom>
          <a:noFill/>
        </p:spPr>
        <p:txBody>
          <a:bodyPr wrap="square">
            <a:spAutoFit/>
          </a:bodyPr>
          <a:lstStyle/>
          <a:p>
            <a:pPr>
              <a:defRPr sz="1100">
                <a:solidFill>
                  <a:srgbClr val="333333"/>
                </a:solidFill>
              </a:defRPr>
            </a:pPr>
            <a:r>
              <a:t>• Year: 2022 only (see docs/Section3_Q9_Analysis.md for the full multi-year analysis and additional statistical framings).</a:t>
            </a:r>
          </a:p>
        </p:txBody>
      </p:sp>
      <p:sp>
        <p:nvSpPr>
          <p:cNvPr id="10" name="TextBox 9"/>
          <p:cNvSpPr txBox="1"/>
          <p:nvPr/>
        </p:nvSpPr>
        <p:spPr>
          <a:xfrm>
            <a:off x="566928" y="3384423"/>
            <a:ext cx="11167567" cy="256032"/>
          </a:xfrm>
          <a:prstGeom prst="rect">
            <a:avLst/>
          </a:prstGeom>
          <a:noFill/>
        </p:spPr>
        <p:txBody>
          <a:bodyPr wrap="square">
            <a:spAutoFit/>
          </a:bodyPr>
          <a:lstStyle/>
          <a:p>
            <a:pPr>
              <a:defRPr sz="1100">
                <a:solidFill>
                  <a:srgbClr val="333333"/>
                </a:solidFill>
              </a:defRPr>
            </a:pPr>
            <a:r>
              <a:t>• Unit: Organization-level reported dollars per source, not regional aggregate totals or stacked-bar percentages.</a:t>
            </a:r>
          </a:p>
        </p:txBody>
      </p:sp>
      <p:sp>
        <p:nvSpPr>
          <p:cNvPr id="11" name="TextBox 10"/>
          <p:cNvSpPr txBox="1"/>
          <p:nvPr/>
        </p:nvSpPr>
        <p:spPr>
          <a:xfrm>
            <a:off x="566928" y="3731895"/>
            <a:ext cx="11167567" cy="256032"/>
          </a:xfrm>
          <a:prstGeom prst="rect">
            <a:avLst/>
          </a:prstGeom>
          <a:noFill/>
        </p:spPr>
        <p:txBody>
          <a:bodyPr wrap="square">
            <a:spAutoFit/>
          </a:bodyPr>
          <a:lstStyle/>
          <a:p>
            <a:pPr>
              <a:defRPr sz="1100">
                <a:solidFill>
                  <a:srgbClr val="333333"/>
                </a:solidFill>
              </a:defRPr>
            </a:pPr>
            <a:r>
              <a:t>• Comparison: Black Hills vs each benchmark region separately (four pairwise tests per source).</a:t>
            </a:r>
          </a:p>
        </p:txBody>
      </p:sp>
      <p:sp>
        <p:nvSpPr>
          <p:cNvPr id="12" name="TextBox 11"/>
          <p:cNvSpPr txBox="1"/>
          <p:nvPr/>
        </p:nvSpPr>
        <p:spPr>
          <a:xfrm>
            <a:off x="566928" y="4079367"/>
            <a:ext cx="11167567" cy="377190"/>
          </a:xfrm>
          <a:prstGeom prst="rect">
            <a:avLst/>
          </a:prstGeom>
          <a:noFill/>
        </p:spPr>
        <p:txBody>
          <a:bodyPr wrap="square">
            <a:spAutoFit/>
          </a:bodyPr>
          <a:lstStyle/>
          <a:p>
            <a:pPr>
              <a:defRPr sz="1100">
                <a:solidFill>
                  <a:srgbClr val="333333"/>
                </a:solidFill>
              </a:defRPr>
            </a:pPr>
            <a:r>
              <a:t>• Statistic: Permutation test on the median difference among organizations with a positive value for that source (10,000 reshuffles); 95% percentile bootstrap CI on the same median gap (10,000 resamples). Slide bullets report medians for those reporters only.</a:t>
            </a:r>
          </a:p>
        </p:txBody>
      </p:sp>
      <p:sp>
        <p:nvSpPr>
          <p:cNvPr id="13" name="TextBox 12"/>
          <p:cNvSpPr txBox="1"/>
          <p:nvPr/>
        </p:nvSpPr>
        <p:spPr>
          <a:xfrm>
            <a:off x="566928" y="4547997"/>
            <a:ext cx="11167567" cy="256032"/>
          </a:xfrm>
          <a:prstGeom prst="rect">
            <a:avLst/>
          </a:prstGeom>
          <a:noFill/>
        </p:spPr>
        <p:txBody>
          <a:bodyPr wrap="square">
            <a:spAutoFit/>
          </a:bodyPr>
          <a:lstStyle/>
          <a:p>
            <a:pPr>
              <a:defRPr sz="1100">
                <a:solidFill>
                  <a:srgbClr val="333333"/>
                </a:solidFill>
              </a:defRPr>
            </a:pPr>
            <a:r>
              <a:t>• Significance rule: p &lt; 0.05 on the pairwise permutation test (not FDR-adjusted on this slide).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457200"/>
          </a:xfrm>
          <a:prstGeom prst="rect">
            <a:avLst/>
          </a:prstGeom>
          <a:noFill/>
        </p:spPr>
        <p:txBody>
          <a:bodyPr wrap="none">
            <a:spAutoFit/>
          </a:bodyPr>
          <a:lstStyle/>
          <a:p>
            <a:pPr>
              <a:defRPr sz="2000" b="1">
                <a:solidFill>
                  <a:srgbClr val="FFFFFF"/>
                </a:solidFill>
              </a:defRPr>
            </a:pPr>
            <a:r>
              <a:t>Full answer — Is there a difference in revenue sources between Black Hills and benchmark regions?</a:t>
            </a:r>
          </a:p>
          <a:p>
            <a:pPr>
              <a:defRPr sz="1000">
                <a:solidFill>
                  <a:srgbClr val="D2DCEB"/>
                </a:solidFill>
              </a:defRPr>
            </a:pPr>
            <a:r>
              <a:t>Significant results</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14 · Significant results</a:t>
            </a:r>
          </a:p>
        </p:txBody>
      </p:sp>
      <p:sp>
        <p:nvSpPr>
          <p:cNvPr id="5" name="TextBox 4"/>
          <p:cNvSpPr txBox="1"/>
          <p:nvPr/>
        </p:nvSpPr>
        <p:spPr>
          <a:xfrm>
            <a:off x="457200" y="960120"/>
            <a:ext cx="11277295" cy="256032"/>
          </a:xfrm>
          <a:prstGeom prst="rect">
            <a:avLst/>
          </a:prstGeom>
          <a:noFill/>
        </p:spPr>
        <p:txBody>
          <a:bodyPr wrap="square" anchor="t">
            <a:noAutofit/>
          </a:bodyPr>
          <a:lstStyle/>
          <a:p>
            <a:pPr>
              <a:defRPr sz="1200" b="1" i="0">
                <a:solidFill>
                  <a:srgbClr val="333333"/>
                </a:solidFill>
              </a:defRPr>
            </a:pPr>
            <a:r>
              <a:t>Statistically significant pairwise differences (permutation p &lt; 0.05, among positive reporters)</a:t>
            </a:r>
          </a:p>
        </p:txBody>
      </p:sp>
      <p:graphicFrame>
        <p:nvGraphicFramePr>
          <p:cNvPr id="6" name="Table 5"/>
          <p:cNvGraphicFramePr>
            <a:graphicFrameLocks noGrp="1"/>
          </p:cNvGraphicFramePr>
          <p:nvPr/>
        </p:nvGraphicFramePr>
        <p:xfrm>
          <a:off x="457200" y="1307592"/>
          <a:ext cx="11277295" cy="2615184"/>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237744">
                <a:tc>
                  <a:txBody>
                    <a:bodyPr/>
                    <a:lstStyle/>
                    <a:p>
                      <a:pPr>
                        <a:defRPr sz="800" b="1">
                          <a:solidFill>
                            <a:srgbClr val="FFFFFF"/>
                          </a:solidFill>
                        </a:defRPr>
                      </a:pPr>
                      <a:r>
                        <a:t>Revenue source</a:t>
                      </a:r>
                    </a:p>
                  </a:txBody>
                  <a:tcPr anchor="ctr" marL="36576" marR="36576" marT="18288" marB="18288">
                    <a:solidFill>
                      <a:srgbClr val="2E6B9E"/>
                    </a:solidFill>
                  </a:tcPr>
                </a:tc>
                <a:tc>
                  <a:txBody>
                    <a:bodyPr/>
                    <a:lstStyle/>
                    <a:p>
                      <a:pPr>
                        <a:defRPr sz="800" b="1">
                          <a:solidFill>
                            <a:srgbClr val="FFFFFF"/>
                          </a:solidFill>
                        </a:defRPr>
                      </a:pPr>
                      <a:r>
                        <a:t>Benchmark region</a:t>
                      </a:r>
                    </a:p>
                  </a:txBody>
                  <a:tcPr anchor="ctr" marL="36576" marR="36576" marT="18288" marB="18288">
                    <a:solidFill>
                      <a:srgbClr val="2E6B9E"/>
                    </a:solidFill>
                  </a:tcPr>
                </a:tc>
                <a:tc>
                  <a:txBody>
                    <a:bodyPr/>
                    <a:lstStyle/>
                    <a:p>
                      <a:pPr>
                        <a:defRPr sz="800" b="1">
                          <a:solidFill>
                            <a:srgbClr val="FFFFFF"/>
                          </a:solidFill>
                        </a:defRPr>
                      </a:pPr>
                      <a:r>
                        <a:t>Direction</a:t>
                      </a:r>
                    </a:p>
                  </a:txBody>
                  <a:tcPr anchor="ctr" marL="36576" marR="36576" marT="18288" marB="18288">
                    <a:solidFill>
                      <a:srgbClr val="2E6B9E"/>
                    </a:solidFill>
                  </a:tcPr>
                </a:tc>
                <a:tc>
                  <a:txBody>
                    <a:bodyPr/>
                    <a:lstStyle/>
                    <a:p>
                      <a:pPr>
                        <a:defRPr sz="800" b="1">
                          <a:solidFill>
                            <a:srgbClr val="FFFFFF"/>
                          </a:solidFill>
                        </a:defRPr>
                      </a:pPr>
                      <a:r>
                        <a:t>Black Hills median</a:t>
                      </a:r>
                    </a:p>
                  </a:txBody>
                  <a:tcPr anchor="ctr" marL="36576" marR="36576" marT="18288" marB="18288">
                    <a:solidFill>
                      <a:srgbClr val="2E6B9E"/>
                    </a:solidFill>
                  </a:tcPr>
                </a:tc>
                <a:tc>
                  <a:txBody>
                    <a:bodyPr/>
                    <a:lstStyle/>
                    <a:p>
                      <a:pPr>
                        <a:defRPr sz="800" b="1">
                          <a:solidFill>
                            <a:srgbClr val="FFFFFF"/>
                          </a:solidFill>
                        </a:defRPr>
                      </a:pPr>
                      <a:r>
                        <a:t>Benchmark median</a:t>
                      </a:r>
                    </a:p>
                  </a:txBody>
                  <a:tcPr anchor="ctr" marL="36576" marR="36576" marT="18288" marB="18288">
                    <a:solidFill>
                      <a:srgbClr val="2E6B9E"/>
                    </a:solidFill>
                  </a:tcPr>
                </a:tc>
                <a:tc>
                  <a:txBody>
                    <a:bodyPr/>
                    <a:lstStyle/>
                    <a:p>
                      <a:pPr>
                        <a:defRPr sz="800" b="1">
                          <a:solidFill>
                            <a:srgbClr val="FFFFFF"/>
                          </a:solidFill>
                        </a:defRPr>
                      </a:pPr>
                      <a:r>
                        <a:t>Median gap (95% CI)</a:t>
                      </a:r>
                    </a:p>
                  </a:txBody>
                  <a:tcPr anchor="ctr" marL="36576" marR="36576" marT="18288" marB="18288">
                    <a:solidFill>
                      <a:srgbClr val="2E6B9E"/>
                    </a:solidFill>
                  </a:tcPr>
                </a:tc>
                <a:tc>
                  <a:txBody>
                    <a:bodyPr/>
                    <a:lstStyle/>
                    <a:p>
                      <a:pPr>
                        <a:defRPr sz="800" b="1">
                          <a:solidFill>
                            <a:srgbClr val="FFFFFF"/>
                          </a:solidFill>
                        </a:defRPr>
                      </a:pPr>
                      <a:r>
                        <a:t>Permutation p</a:t>
                      </a:r>
                    </a:p>
                  </a:txBody>
                  <a:tcPr anchor="ctr" marL="36576" marR="36576" marT="18288" marB="18288">
                    <a:solidFill>
                      <a:srgbClr val="2E6B9E"/>
                    </a:solidFill>
                  </a:tcPr>
                </a:tc>
              </a:tr>
              <a:tr h="237744">
                <a:tc>
                  <a:txBody>
                    <a:bodyPr/>
                    <a:lstStyle/>
                    <a:p>
                      <a:pPr>
                        <a:defRPr sz="800">
                          <a:solidFill>
                            <a:srgbClr val="333333"/>
                          </a:solidFill>
                        </a:defRPr>
                      </a:pPr>
                      <a:r>
                        <a:t>Federated campaign contributions</a:t>
                      </a:r>
                    </a:p>
                  </a:txBody>
                  <a:tcPr anchor="ctr" marL="36576" marR="36576" marT="18288" marB="18288"/>
                </a:tc>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Black Hills lower among reporters</a:t>
                      </a:r>
                    </a:p>
                  </a:txBody>
                  <a:tcPr anchor="ctr" marL="36576" marR="36576" marT="18288" marB="18288"/>
                </a:tc>
                <a:tc>
                  <a:txBody>
                    <a:bodyPr/>
                    <a:lstStyle/>
                    <a:p>
                      <a:pPr>
                        <a:defRPr sz="800">
                          <a:solidFill>
                            <a:srgbClr val="333333"/>
                          </a:solidFill>
                        </a:defRPr>
                      </a:pPr>
                      <a:r>
                        <a:t>$30,096</a:t>
                      </a:r>
                    </a:p>
                  </a:txBody>
                  <a:tcPr anchor="ctr" marL="36576" marR="36576" marT="18288" marB="18288"/>
                </a:tc>
                <a:tc>
                  <a:txBody>
                    <a:bodyPr/>
                    <a:lstStyle/>
                    <a:p>
                      <a:pPr>
                        <a:defRPr sz="800">
                          <a:solidFill>
                            <a:srgbClr val="333333"/>
                          </a:solidFill>
                        </a:defRPr>
                      </a:pPr>
                      <a:r>
                        <a:t>$150,655</a:t>
                      </a:r>
                    </a:p>
                  </a:txBody>
                  <a:tcPr anchor="ctr" marL="36576" marR="36576" marT="18288" marB="18288"/>
                </a:tc>
                <a:tc>
                  <a:txBody>
                    <a:bodyPr/>
                    <a:lstStyle/>
                    <a:p>
                      <a:pPr>
                        <a:defRPr sz="800">
                          <a:solidFill>
                            <a:srgbClr val="333333"/>
                          </a:solidFill>
                        </a:defRPr>
                      </a:pPr>
                      <a:r>
                        <a:t>-$120,559 (95% CI -$251,704 to -$58,041)</a:t>
                      </a:r>
                    </a:p>
                  </a:txBody>
                  <a:tcPr anchor="ctr" marL="36576" marR="36576" marT="18288" marB="18288"/>
                </a:tc>
                <a:tc>
                  <a:txBody>
                    <a:bodyPr/>
                    <a:lstStyle/>
                    <a:p>
                      <a:pPr>
                        <a:defRPr sz="800">
                          <a:solidFill>
                            <a:srgbClr val="333333"/>
                          </a:solidFill>
                        </a:defRPr>
                      </a:pPr>
                      <a:r>
                        <a:t>0.005</a:t>
                      </a:r>
                    </a:p>
                  </a:txBody>
                  <a:tcPr anchor="ctr" marL="36576" marR="36576" marT="18288" marB="18288"/>
                </a:tc>
              </a:tr>
              <a:tr h="237744">
                <a:tc>
                  <a:txBody>
                    <a:bodyPr/>
                    <a:lstStyle/>
                    <a:p>
                      <a:pPr>
                        <a:defRPr sz="800">
                          <a:solidFill>
                            <a:srgbClr val="333333"/>
                          </a:solidFill>
                        </a:defRPr>
                      </a:pPr>
                      <a:r>
                        <a:t>Fundraising event contributions</a:t>
                      </a:r>
                    </a:p>
                  </a:txBody>
                  <a:tcPr anchor="ctr" marL="36576" marR="36576" marT="18288" marB="18288"/>
                </a:tc>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Black Hills lower among reporters</a:t>
                      </a:r>
                    </a:p>
                  </a:txBody>
                  <a:tcPr anchor="ctr" marL="36576" marR="36576" marT="18288" marB="18288"/>
                </a:tc>
                <a:tc>
                  <a:txBody>
                    <a:bodyPr/>
                    <a:lstStyle/>
                    <a:p>
                      <a:pPr>
                        <a:defRPr sz="800">
                          <a:solidFill>
                            <a:srgbClr val="333333"/>
                          </a:solidFill>
                        </a:defRPr>
                      </a:pPr>
                      <a:r>
                        <a:t>$12,427</a:t>
                      </a:r>
                    </a:p>
                  </a:txBody>
                  <a:tcPr anchor="ctr" marL="36576" marR="36576" marT="18288" marB="18288"/>
                </a:tc>
                <a:tc>
                  <a:txBody>
                    <a:bodyPr/>
                    <a:lstStyle/>
                    <a:p>
                      <a:pPr>
                        <a:defRPr sz="800">
                          <a:solidFill>
                            <a:srgbClr val="333333"/>
                          </a:solidFill>
                        </a:defRPr>
                      </a:pPr>
                      <a:r>
                        <a:t>$38,516</a:t>
                      </a:r>
                    </a:p>
                  </a:txBody>
                  <a:tcPr anchor="ctr" marL="36576" marR="36576" marT="18288" marB="18288"/>
                </a:tc>
                <a:tc>
                  <a:txBody>
                    <a:bodyPr/>
                    <a:lstStyle/>
                    <a:p>
                      <a:pPr>
                        <a:defRPr sz="800">
                          <a:solidFill>
                            <a:srgbClr val="333333"/>
                          </a:solidFill>
                        </a:defRPr>
                      </a:pPr>
                      <a:r>
                        <a:t>-$26,088 (95% CI -$64,852 to -$6,639)</a:t>
                      </a:r>
                    </a:p>
                  </a:txBody>
                  <a:tcPr anchor="ctr" marL="36576" marR="36576" marT="18288" marB="18288"/>
                </a:tc>
                <a:tc>
                  <a:txBody>
                    <a:bodyPr/>
                    <a:lstStyle/>
                    <a:p>
                      <a:pPr>
                        <a:defRPr sz="800">
                          <a:solidFill>
                            <a:srgbClr val="333333"/>
                          </a:solidFill>
                        </a:defRPr>
                      </a:pPr>
                      <a:r>
                        <a:t>0.009</a:t>
                      </a:r>
                    </a:p>
                  </a:txBody>
                  <a:tcPr anchor="ctr" marL="36576" marR="36576" marT="18288" marB="18288"/>
                </a:tc>
              </a:tr>
              <a:tr h="237744">
                <a:tc>
                  <a:txBody>
                    <a:bodyPr/>
                    <a:lstStyle/>
                    <a:p>
                      <a:pPr>
                        <a:defRPr sz="800">
                          <a:solidFill>
                            <a:srgbClr val="333333"/>
                          </a:solidFill>
                        </a:defRPr>
                      </a:pPr>
                      <a:r>
                        <a:t>Fundraising event contributions</a:t>
                      </a:r>
                    </a:p>
                  </a:txBody>
                  <a:tcPr anchor="ctr" marL="36576" marR="36576" marT="18288" marB="18288"/>
                </a:tc>
                <a:tc>
                  <a:txBody>
                    <a:bodyPr/>
                    <a:lstStyle/>
                    <a:p>
                      <a:pPr>
                        <a:defRPr sz="800">
                          <a:solidFill>
                            <a:srgbClr val="333333"/>
                          </a:solidFill>
                        </a:defRPr>
                      </a:pPr>
                      <a:r>
                        <a:t>Missoula</a:t>
                      </a:r>
                    </a:p>
                  </a:txBody>
                  <a:tcPr anchor="ctr" marL="36576" marR="36576" marT="18288" marB="18288"/>
                </a:tc>
                <a:tc>
                  <a:txBody>
                    <a:bodyPr/>
                    <a:lstStyle/>
                    <a:p>
                      <a:pPr>
                        <a:defRPr sz="800">
                          <a:solidFill>
                            <a:srgbClr val="333333"/>
                          </a:solidFill>
                        </a:defRPr>
                      </a:pPr>
                      <a:r>
                        <a:t>Black Hills lower among reporters</a:t>
                      </a:r>
                    </a:p>
                  </a:txBody>
                  <a:tcPr anchor="ctr" marL="36576" marR="36576" marT="18288" marB="18288"/>
                </a:tc>
                <a:tc>
                  <a:txBody>
                    <a:bodyPr/>
                    <a:lstStyle/>
                    <a:p>
                      <a:pPr>
                        <a:defRPr sz="800">
                          <a:solidFill>
                            <a:srgbClr val="333333"/>
                          </a:solidFill>
                        </a:defRPr>
                      </a:pPr>
                      <a:r>
                        <a:t>$12,427</a:t>
                      </a:r>
                    </a:p>
                  </a:txBody>
                  <a:tcPr anchor="ctr" marL="36576" marR="36576" marT="18288" marB="18288"/>
                </a:tc>
                <a:tc>
                  <a:txBody>
                    <a:bodyPr/>
                    <a:lstStyle/>
                    <a:p>
                      <a:pPr>
                        <a:defRPr sz="800">
                          <a:solidFill>
                            <a:srgbClr val="333333"/>
                          </a:solidFill>
                        </a:defRPr>
                      </a:pPr>
                      <a:r>
                        <a:t>$41,756</a:t>
                      </a:r>
                    </a:p>
                  </a:txBody>
                  <a:tcPr anchor="ctr" marL="36576" marR="36576" marT="18288" marB="18288"/>
                </a:tc>
                <a:tc>
                  <a:txBody>
                    <a:bodyPr/>
                    <a:lstStyle/>
                    <a:p>
                      <a:pPr>
                        <a:defRPr sz="800">
                          <a:solidFill>
                            <a:srgbClr val="333333"/>
                          </a:solidFill>
                        </a:defRPr>
                      </a:pPr>
                      <a:r>
                        <a:t>-$29,329 (95% CI -$72,681 to +$1,335)</a:t>
                      </a:r>
                    </a:p>
                  </a:txBody>
                  <a:tcPr anchor="ctr" marL="36576" marR="36576" marT="18288" marB="18288"/>
                </a:tc>
                <a:tc>
                  <a:txBody>
                    <a:bodyPr/>
                    <a:lstStyle/>
                    <a:p>
                      <a:pPr>
                        <a:defRPr sz="800">
                          <a:solidFill>
                            <a:srgbClr val="333333"/>
                          </a:solidFill>
                        </a:defRPr>
                      </a:pPr>
                      <a:r>
                        <a:t>0.010</a:t>
                      </a:r>
                    </a:p>
                  </a:txBody>
                  <a:tcPr anchor="ctr" marL="36576" marR="36576" marT="18288" marB="18288"/>
                </a:tc>
              </a:tr>
              <a:tr h="237744">
                <a:tc>
                  <a:txBody>
                    <a:bodyPr/>
                    <a:lstStyle/>
                    <a:p>
                      <a:pPr>
                        <a:defRPr sz="800">
                          <a:solidFill>
                            <a:srgbClr val="333333"/>
                          </a:solidFill>
                        </a:defRPr>
                      </a:pPr>
                      <a:r>
                        <a:t>Fundraising event contributions</a:t>
                      </a:r>
                    </a:p>
                  </a:txBody>
                  <a:tcPr anchor="ctr" marL="36576" marR="36576" marT="18288" marB="18288"/>
                </a:tc>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Black Hills lower among reporters</a:t>
                      </a:r>
                    </a:p>
                  </a:txBody>
                  <a:tcPr anchor="ctr" marL="36576" marR="36576" marT="18288" marB="18288"/>
                </a:tc>
                <a:tc>
                  <a:txBody>
                    <a:bodyPr/>
                    <a:lstStyle/>
                    <a:p>
                      <a:pPr>
                        <a:defRPr sz="800">
                          <a:solidFill>
                            <a:srgbClr val="333333"/>
                          </a:solidFill>
                        </a:defRPr>
                      </a:pPr>
                      <a:r>
                        <a:t>$12,427</a:t>
                      </a:r>
                    </a:p>
                  </a:txBody>
                  <a:tcPr anchor="ctr" marL="36576" marR="36576" marT="18288" marB="18288"/>
                </a:tc>
                <a:tc>
                  <a:txBody>
                    <a:bodyPr/>
                    <a:lstStyle/>
                    <a:p>
                      <a:pPr>
                        <a:defRPr sz="800">
                          <a:solidFill>
                            <a:srgbClr val="333333"/>
                          </a:solidFill>
                        </a:defRPr>
                      </a:pPr>
                      <a:r>
                        <a:t>$70,761</a:t>
                      </a:r>
                    </a:p>
                  </a:txBody>
                  <a:tcPr anchor="ctr" marL="36576" marR="36576" marT="18288" marB="18288"/>
                </a:tc>
                <a:tc>
                  <a:txBody>
                    <a:bodyPr/>
                    <a:lstStyle/>
                    <a:p>
                      <a:pPr>
                        <a:defRPr sz="800">
                          <a:solidFill>
                            <a:srgbClr val="333333"/>
                          </a:solidFill>
                        </a:defRPr>
                      </a:pPr>
                      <a:r>
                        <a:t>-$58,334 (95% CI -$80,561 to -$31,388)</a:t>
                      </a:r>
                    </a:p>
                  </a:txBody>
                  <a:tcPr anchor="ctr" marL="36576" marR="36576" marT="18288" marB="18288"/>
                </a:tc>
                <a:tc>
                  <a:txBody>
                    <a:bodyPr/>
                    <a:lstStyle/>
                    <a:p>
                      <a:pPr>
                        <a:defRPr sz="800">
                          <a:solidFill>
                            <a:srgbClr val="333333"/>
                          </a:solidFill>
                        </a:defRPr>
                      </a:pPr>
                      <a:r>
                        <a:t>&lt; 0.001</a:t>
                      </a:r>
                    </a:p>
                  </a:txBody>
                  <a:tcPr anchor="ctr" marL="36576" marR="36576" marT="18288" marB="18288"/>
                </a:tc>
              </a:tr>
              <a:tr h="237744">
                <a:tc>
                  <a:txBody>
                    <a:bodyPr/>
                    <a:lstStyle/>
                    <a:p>
                      <a:pPr>
                        <a:defRPr sz="800">
                          <a:solidFill>
                            <a:srgbClr val="333333"/>
                          </a:solidFill>
                        </a:defRPr>
                      </a:pPr>
                      <a:r>
                        <a:t>Government grants received</a:t>
                      </a:r>
                    </a:p>
                  </a:txBody>
                  <a:tcPr anchor="ctr" marL="36576" marR="36576" marT="18288" marB="18288"/>
                </a:tc>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Black Hills lower among reporters</a:t>
                      </a:r>
                    </a:p>
                  </a:txBody>
                  <a:tcPr anchor="ctr" marL="36576" marR="36576" marT="18288" marB="18288"/>
                </a:tc>
                <a:tc>
                  <a:txBody>
                    <a:bodyPr/>
                    <a:lstStyle/>
                    <a:p>
                      <a:pPr>
                        <a:defRPr sz="800">
                          <a:solidFill>
                            <a:srgbClr val="333333"/>
                          </a:solidFill>
                        </a:defRPr>
                      </a:pPr>
                      <a:r>
                        <a:t>$163,367</a:t>
                      </a:r>
                    </a:p>
                  </a:txBody>
                  <a:tcPr anchor="ctr" marL="36576" marR="36576" marT="18288" marB="18288"/>
                </a:tc>
                <a:tc>
                  <a:txBody>
                    <a:bodyPr/>
                    <a:lstStyle/>
                    <a:p>
                      <a:pPr>
                        <a:defRPr sz="800">
                          <a:solidFill>
                            <a:srgbClr val="333333"/>
                          </a:solidFill>
                        </a:defRPr>
                      </a:pPr>
                      <a:r>
                        <a:t>$274,793</a:t>
                      </a:r>
                    </a:p>
                  </a:txBody>
                  <a:tcPr anchor="ctr" marL="36576" marR="36576" marT="18288" marB="18288"/>
                </a:tc>
                <a:tc>
                  <a:txBody>
                    <a:bodyPr/>
                    <a:lstStyle/>
                    <a:p>
                      <a:pPr>
                        <a:defRPr sz="800">
                          <a:solidFill>
                            <a:srgbClr val="333333"/>
                          </a:solidFill>
                        </a:defRPr>
                      </a:pPr>
                      <a:r>
                        <a:t>-$111,426 (95% CI -$345,341 to +$7,163)</a:t>
                      </a:r>
                    </a:p>
                  </a:txBody>
                  <a:tcPr anchor="ctr" marL="36576" marR="36576" marT="18288" marB="18288"/>
                </a:tc>
                <a:tc>
                  <a:txBody>
                    <a:bodyPr/>
                    <a:lstStyle/>
                    <a:p>
                      <a:pPr>
                        <a:defRPr sz="800">
                          <a:solidFill>
                            <a:srgbClr val="333333"/>
                          </a:solidFill>
                        </a:defRPr>
                      </a:pPr>
                      <a:r>
                        <a:t>0.043</a:t>
                      </a:r>
                    </a:p>
                  </a:txBody>
                  <a:tcPr anchor="ctr" marL="36576" marR="36576" marT="18288" marB="18288"/>
                </a:tc>
              </a:tr>
              <a:tr h="237744">
                <a:tc>
                  <a:txBody>
                    <a:bodyPr/>
                    <a:lstStyle/>
                    <a:p>
                      <a:pPr>
                        <a:defRPr sz="800">
                          <a:solidFill>
                            <a:srgbClr val="333333"/>
                          </a:solidFill>
                        </a:defRPr>
                      </a:pPr>
                      <a:r>
                        <a:t>Government grants received</a:t>
                      </a:r>
                    </a:p>
                  </a:txBody>
                  <a:tcPr anchor="ctr" marL="36576" marR="36576" marT="18288" marB="18288"/>
                </a:tc>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Black Hills lower among reporters</a:t>
                      </a:r>
                    </a:p>
                  </a:txBody>
                  <a:tcPr anchor="ctr" marL="36576" marR="36576" marT="18288" marB="18288"/>
                </a:tc>
                <a:tc>
                  <a:txBody>
                    <a:bodyPr/>
                    <a:lstStyle/>
                    <a:p>
                      <a:pPr>
                        <a:defRPr sz="800">
                          <a:solidFill>
                            <a:srgbClr val="333333"/>
                          </a:solidFill>
                        </a:defRPr>
                      </a:pPr>
                      <a:r>
                        <a:t>$163,367</a:t>
                      </a:r>
                    </a:p>
                  </a:txBody>
                  <a:tcPr anchor="ctr" marL="36576" marR="36576" marT="18288" marB="18288"/>
                </a:tc>
                <a:tc>
                  <a:txBody>
                    <a:bodyPr/>
                    <a:lstStyle/>
                    <a:p>
                      <a:pPr>
                        <a:defRPr sz="800">
                          <a:solidFill>
                            <a:srgbClr val="333333"/>
                          </a:solidFill>
                        </a:defRPr>
                      </a:pPr>
                      <a:r>
                        <a:t>$468,152</a:t>
                      </a:r>
                    </a:p>
                  </a:txBody>
                  <a:tcPr anchor="ctr" marL="36576" marR="36576" marT="18288" marB="18288"/>
                </a:tc>
                <a:tc>
                  <a:txBody>
                    <a:bodyPr/>
                    <a:lstStyle/>
                    <a:p>
                      <a:pPr>
                        <a:defRPr sz="800">
                          <a:solidFill>
                            <a:srgbClr val="333333"/>
                          </a:solidFill>
                        </a:defRPr>
                      </a:pPr>
                      <a:r>
                        <a:t>-$304,785 (95% CI -$817,302 to -$131,168)</a:t>
                      </a:r>
                    </a:p>
                  </a:txBody>
                  <a:tcPr anchor="ctr" marL="36576" marR="36576" marT="18288" marB="18288"/>
                </a:tc>
                <a:tc>
                  <a:txBody>
                    <a:bodyPr/>
                    <a:lstStyle/>
                    <a:p>
                      <a:pPr>
                        <a:defRPr sz="800">
                          <a:solidFill>
                            <a:srgbClr val="333333"/>
                          </a:solidFill>
                        </a:defRPr>
                      </a:pPr>
                      <a:r>
                        <a:t>0.003</a:t>
                      </a:r>
                    </a:p>
                  </a:txBody>
                  <a:tcPr anchor="ctr" marL="36576" marR="36576" marT="18288" marB="18288"/>
                </a:tc>
              </a:tr>
              <a:tr h="237744">
                <a:tc>
                  <a:txBody>
                    <a:bodyPr/>
                    <a:lstStyle/>
                    <a:p>
                      <a:pPr>
                        <a:defRPr sz="800">
                          <a:solidFill>
                            <a:srgbClr val="333333"/>
                          </a:solidFill>
                        </a:defRPr>
                      </a:pPr>
                      <a:r>
                        <a:t>Mixed / unclassified contributions</a:t>
                      </a:r>
                    </a:p>
                  </a:txBody>
                  <a:tcPr anchor="ctr" marL="36576" marR="36576" marT="18288" marB="18288"/>
                </a:tc>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Black Hills lower among reporters</a:t>
                      </a:r>
                    </a:p>
                  </a:txBody>
                  <a:tcPr anchor="ctr" marL="36576" marR="36576" marT="18288" marB="18288"/>
                </a:tc>
                <a:tc>
                  <a:txBody>
                    <a:bodyPr/>
                    <a:lstStyle/>
                    <a:p>
                      <a:pPr>
                        <a:defRPr sz="800">
                          <a:solidFill>
                            <a:srgbClr val="333333"/>
                          </a:solidFill>
                        </a:defRPr>
                      </a:pPr>
                      <a:r>
                        <a:t>$65,792</a:t>
                      </a:r>
                    </a:p>
                  </a:txBody>
                  <a:tcPr anchor="ctr" marL="36576" marR="36576" marT="18288" marB="18288"/>
                </a:tc>
                <a:tc>
                  <a:txBody>
                    <a:bodyPr/>
                    <a:lstStyle/>
                    <a:p>
                      <a:pPr>
                        <a:defRPr sz="800">
                          <a:solidFill>
                            <a:srgbClr val="333333"/>
                          </a:solidFill>
                        </a:defRPr>
                      </a:pPr>
                      <a:r>
                        <a:t>$92,278</a:t>
                      </a:r>
                    </a:p>
                  </a:txBody>
                  <a:tcPr anchor="ctr" marL="36576" marR="36576" marT="18288" marB="18288"/>
                </a:tc>
                <a:tc>
                  <a:txBody>
                    <a:bodyPr/>
                    <a:lstStyle/>
                    <a:p>
                      <a:pPr>
                        <a:defRPr sz="800">
                          <a:solidFill>
                            <a:srgbClr val="333333"/>
                          </a:solidFill>
                        </a:defRPr>
                      </a:pPr>
                      <a:r>
                        <a:t>-$26,486 (95% CI -$50,596 to -$2,907)</a:t>
                      </a:r>
                    </a:p>
                  </a:txBody>
                  <a:tcPr anchor="ctr" marL="36576" marR="36576" marT="18288" marB="18288"/>
                </a:tc>
                <a:tc>
                  <a:txBody>
                    <a:bodyPr/>
                    <a:lstStyle/>
                    <a:p>
                      <a:pPr>
                        <a:defRPr sz="800">
                          <a:solidFill>
                            <a:srgbClr val="333333"/>
                          </a:solidFill>
                        </a:defRPr>
                      </a:pPr>
                      <a:r>
                        <a:t>0.033</a:t>
                      </a:r>
                    </a:p>
                  </a:txBody>
                  <a:tcPr anchor="ctr" marL="36576" marR="36576" marT="18288" marB="18288"/>
                </a:tc>
              </a:tr>
              <a:tr h="237744">
                <a:tc>
                  <a:txBody>
                    <a:bodyPr/>
                    <a:lstStyle/>
                    <a:p>
                      <a:pPr>
                        <a:defRPr sz="800">
                          <a:solidFill>
                            <a:srgbClr val="333333"/>
                          </a:solidFill>
                        </a:defRPr>
                      </a:pPr>
                      <a:r>
                        <a:t>Other revenue</a:t>
                      </a:r>
                    </a:p>
                  </a:txBody>
                  <a:tcPr anchor="ctr" marL="36576" marR="36576" marT="18288" marB="18288"/>
                </a:tc>
                <a:tc>
                  <a:txBody>
                    <a:bodyPr/>
                    <a:lstStyle/>
                    <a:p>
                      <a:pPr>
                        <a:defRPr sz="800">
                          <a:solidFill>
                            <a:srgbClr val="333333"/>
                          </a:solidFill>
                        </a:defRPr>
                      </a:pPr>
                      <a:r>
                        <a:t>Billings</a:t>
                      </a:r>
                    </a:p>
                  </a:txBody>
                  <a:tcPr anchor="ctr" marL="36576" marR="36576" marT="18288" marB="18288"/>
                </a:tc>
                <a:tc>
                  <a:txBody>
                    <a:bodyPr/>
                    <a:lstStyle/>
                    <a:p>
                      <a:pPr>
                        <a:defRPr sz="800">
                          <a:solidFill>
                            <a:srgbClr val="333333"/>
                          </a:solidFill>
                        </a:defRPr>
                      </a:pPr>
                      <a:r>
                        <a:t>Black Hills lower among reporters</a:t>
                      </a:r>
                    </a:p>
                  </a:txBody>
                  <a:tcPr anchor="ctr" marL="36576" marR="36576" marT="18288" marB="18288"/>
                </a:tc>
                <a:tc>
                  <a:txBody>
                    <a:bodyPr/>
                    <a:lstStyle/>
                    <a:p>
                      <a:pPr>
                        <a:defRPr sz="800">
                          <a:solidFill>
                            <a:srgbClr val="333333"/>
                          </a:solidFill>
                        </a:defRPr>
                      </a:pPr>
                      <a:r>
                        <a:t>$14,805</a:t>
                      </a:r>
                    </a:p>
                  </a:txBody>
                  <a:tcPr anchor="ctr" marL="36576" marR="36576" marT="18288" marB="18288"/>
                </a:tc>
                <a:tc>
                  <a:txBody>
                    <a:bodyPr/>
                    <a:lstStyle/>
                    <a:p>
                      <a:pPr>
                        <a:defRPr sz="800">
                          <a:solidFill>
                            <a:srgbClr val="333333"/>
                          </a:solidFill>
                        </a:defRPr>
                      </a:pPr>
                      <a:r>
                        <a:t>$27,630</a:t>
                      </a:r>
                    </a:p>
                  </a:txBody>
                  <a:tcPr anchor="ctr" marL="36576" marR="36576" marT="18288" marB="18288"/>
                </a:tc>
                <a:tc>
                  <a:txBody>
                    <a:bodyPr/>
                    <a:lstStyle/>
                    <a:p>
                      <a:pPr>
                        <a:defRPr sz="800">
                          <a:solidFill>
                            <a:srgbClr val="333333"/>
                          </a:solidFill>
                        </a:defRPr>
                      </a:pPr>
                      <a:r>
                        <a:t>-$12,825 (95% CI -$22,923 to -$1,324)</a:t>
                      </a:r>
                    </a:p>
                  </a:txBody>
                  <a:tcPr anchor="ctr" marL="36576" marR="36576" marT="18288" marB="18288"/>
                </a:tc>
                <a:tc>
                  <a:txBody>
                    <a:bodyPr/>
                    <a:lstStyle/>
                    <a:p>
                      <a:pPr>
                        <a:defRPr sz="800">
                          <a:solidFill>
                            <a:srgbClr val="333333"/>
                          </a:solidFill>
                        </a:defRPr>
                      </a:pPr>
                      <a:r>
                        <a:t>0.010</a:t>
                      </a:r>
                    </a:p>
                  </a:txBody>
                  <a:tcPr anchor="ctr" marL="36576" marR="36576" marT="18288" marB="18288"/>
                </a:tc>
              </a:tr>
              <a:tr h="237744">
                <a:tc>
                  <a:txBody>
                    <a:bodyPr/>
                    <a:lstStyle/>
                    <a:p>
                      <a:pPr>
                        <a:defRPr sz="800">
                          <a:solidFill>
                            <a:srgbClr val="333333"/>
                          </a:solidFill>
                        </a:defRPr>
                      </a:pPr>
                      <a:r>
                        <a:t>Other revenue</a:t>
                      </a:r>
                    </a:p>
                  </a:txBody>
                  <a:tcPr anchor="ctr" marL="36576" marR="36576" marT="18288" marB="18288"/>
                </a:tc>
                <a:tc>
                  <a:txBody>
                    <a:bodyPr/>
                    <a:lstStyle/>
                    <a:p>
                      <a:pPr>
                        <a:defRPr sz="800">
                          <a:solidFill>
                            <a:srgbClr val="333333"/>
                          </a:solidFill>
                        </a:defRPr>
                      </a:pPr>
                      <a:r>
                        <a:t>Sioux Falls</a:t>
                      </a:r>
                    </a:p>
                  </a:txBody>
                  <a:tcPr anchor="ctr" marL="36576" marR="36576" marT="18288" marB="18288"/>
                </a:tc>
                <a:tc>
                  <a:txBody>
                    <a:bodyPr/>
                    <a:lstStyle/>
                    <a:p>
                      <a:pPr>
                        <a:defRPr sz="800">
                          <a:solidFill>
                            <a:srgbClr val="333333"/>
                          </a:solidFill>
                        </a:defRPr>
                      </a:pPr>
                      <a:r>
                        <a:t>Black Hills lower among reporters</a:t>
                      </a:r>
                    </a:p>
                  </a:txBody>
                  <a:tcPr anchor="ctr" marL="36576" marR="36576" marT="18288" marB="18288"/>
                </a:tc>
                <a:tc>
                  <a:txBody>
                    <a:bodyPr/>
                    <a:lstStyle/>
                    <a:p>
                      <a:pPr>
                        <a:defRPr sz="800">
                          <a:solidFill>
                            <a:srgbClr val="333333"/>
                          </a:solidFill>
                        </a:defRPr>
                      </a:pPr>
                      <a:r>
                        <a:t>$14,805</a:t>
                      </a:r>
                    </a:p>
                  </a:txBody>
                  <a:tcPr anchor="ctr" marL="36576" marR="36576" marT="18288" marB="18288"/>
                </a:tc>
                <a:tc>
                  <a:txBody>
                    <a:bodyPr/>
                    <a:lstStyle/>
                    <a:p>
                      <a:pPr>
                        <a:defRPr sz="800">
                          <a:solidFill>
                            <a:srgbClr val="333333"/>
                          </a:solidFill>
                        </a:defRPr>
                      </a:pPr>
                      <a:r>
                        <a:t>$32,467</a:t>
                      </a:r>
                    </a:p>
                  </a:txBody>
                  <a:tcPr anchor="ctr" marL="36576" marR="36576" marT="18288" marB="18288"/>
                </a:tc>
                <a:tc>
                  <a:txBody>
                    <a:bodyPr/>
                    <a:lstStyle/>
                    <a:p>
                      <a:pPr>
                        <a:defRPr sz="800">
                          <a:solidFill>
                            <a:srgbClr val="333333"/>
                          </a:solidFill>
                        </a:defRPr>
                      </a:pPr>
                      <a:r>
                        <a:t>-$17,662 (95% CI -$25,196 to -$6,938)</a:t>
                      </a:r>
                    </a:p>
                  </a:txBody>
                  <a:tcPr anchor="ctr" marL="36576" marR="36576" marT="18288" marB="18288"/>
                </a:tc>
                <a:tc>
                  <a:txBody>
                    <a:bodyPr/>
                    <a:lstStyle/>
                    <a:p>
                      <a:pPr>
                        <a:defRPr sz="800">
                          <a:solidFill>
                            <a:srgbClr val="333333"/>
                          </a:solidFill>
                        </a:defRPr>
                      </a:pPr>
                      <a:r>
                        <a:t>0.001</a:t>
                      </a:r>
                    </a:p>
                  </a:txBody>
                  <a:tcPr anchor="ctr" marL="36576" marR="36576" marT="18288" marB="18288"/>
                </a:tc>
              </a:tr>
              <a:tr h="237744">
                <a:tc>
                  <a:txBody>
                    <a:bodyPr/>
                    <a:lstStyle/>
                    <a:p>
                      <a:pPr>
                        <a:defRPr sz="800">
                          <a:solidFill>
                            <a:srgbClr val="333333"/>
                          </a:solidFill>
                        </a:defRPr>
                      </a:pPr>
                      <a:r>
                        <a:t>Program service revenue</a:t>
                      </a:r>
                    </a:p>
                  </a:txBody>
                  <a:tcPr anchor="ctr" marL="36576" marR="36576" marT="18288" marB="18288"/>
                </a:tc>
                <a:tc>
                  <a:txBody>
                    <a:bodyPr/>
                    <a:lstStyle/>
                    <a:p>
                      <a:pPr>
                        <a:defRPr sz="800">
                          <a:solidFill>
                            <a:srgbClr val="333333"/>
                          </a:solidFill>
                        </a:defRPr>
                      </a:pPr>
                      <a:r>
                        <a:t>Flagstaff</a:t>
                      </a:r>
                    </a:p>
                  </a:txBody>
                  <a:tcPr anchor="ctr" marL="36576" marR="36576" marT="18288" marB="18288"/>
                </a:tc>
                <a:tc>
                  <a:txBody>
                    <a:bodyPr/>
                    <a:lstStyle/>
                    <a:p>
                      <a:pPr>
                        <a:defRPr sz="800">
                          <a:solidFill>
                            <a:srgbClr val="333333"/>
                          </a:solidFill>
                        </a:defRPr>
                      </a:pPr>
                      <a:r>
                        <a:t>Black Hills lower among reporters</a:t>
                      </a:r>
                    </a:p>
                  </a:txBody>
                  <a:tcPr anchor="ctr" marL="36576" marR="36576" marT="18288" marB="18288"/>
                </a:tc>
                <a:tc>
                  <a:txBody>
                    <a:bodyPr/>
                    <a:lstStyle/>
                    <a:p>
                      <a:pPr>
                        <a:defRPr sz="800">
                          <a:solidFill>
                            <a:srgbClr val="333333"/>
                          </a:solidFill>
                        </a:defRPr>
                      </a:pPr>
                      <a:r>
                        <a:t>$106,346</a:t>
                      </a:r>
                    </a:p>
                  </a:txBody>
                  <a:tcPr anchor="ctr" marL="36576" marR="36576" marT="18288" marB="18288"/>
                </a:tc>
                <a:tc>
                  <a:txBody>
                    <a:bodyPr/>
                    <a:lstStyle/>
                    <a:p>
                      <a:pPr>
                        <a:defRPr sz="800">
                          <a:solidFill>
                            <a:srgbClr val="333333"/>
                          </a:solidFill>
                        </a:defRPr>
                      </a:pPr>
                      <a:r>
                        <a:t>$188,968</a:t>
                      </a:r>
                    </a:p>
                  </a:txBody>
                  <a:tcPr anchor="ctr" marL="36576" marR="36576" marT="18288" marB="18288"/>
                </a:tc>
                <a:tc>
                  <a:txBody>
                    <a:bodyPr/>
                    <a:lstStyle/>
                    <a:p>
                      <a:pPr>
                        <a:defRPr sz="800">
                          <a:solidFill>
                            <a:srgbClr val="333333"/>
                          </a:solidFill>
                        </a:defRPr>
                      </a:pPr>
                      <a:r>
                        <a:t>-$82,622 (95% CI -$188,223 to +$1,513)</a:t>
                      </a:r>
                    </a:p>
                  </a:txBody>
                  <a:tcPr anchor="ctr" marL="36576" marR="36576" marT="18288" marB="18288"/>
                </a:tc>
                <a:tc>
                  <a:txBody>
                    <a:bodyPr/>
                    <a:lstStyle/>
                    <a:p>
                      <a:pPr>
                        <a:defRPr sz="800">
                          <a:solidFill>
                            <a:srgbClr val="333333"/>
                          </a:solidFill>
                        </a:defRPr>
                      </a:pPr>
                      <a:r>
                        <a:t>0.038</a:t>
                      </a:r>
                    </a:p>
                  </a:txBody>
                  <a:tcPr anchor="ctr" marL="36576" marR="36576" marT="18288" marB="18288"/>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457200"/>
          </a:xfrm>
          <a:prstGeom prst="rect">
            <a:avLst/>
          </a:prstGeom>
          <a:noFill/>
        </p:spPr>
        <p:txBody>
          <a:bodyPr wrap="none">
            <a:spAutoFit/>
          </a:bodyPr>
          <a:lstStyle/>
          <a:p>
            <a:pPr>
              <a:defRPr sz="2000" b="1">
                <a:solidFill>
                  <a:srgbClr val="FFFFFF"/>
                </a:solidFill>
              </a:defRPr>
            </a:pPr>
            <a:r>
              <a:t>Full answer — Is there a difference in revenue sources between Black Hills and benchmark regions?</a:t>
            </a:r>
          </a:p>
          <a:p>
            <a:pPr>
              <a:defRPr sz="1000">
                <a:solidFill>
                  <a:srgbClr val="D2DCEB"/>
                </a:solidFill>
              </a:defRPr>
            </a:pPr>
            <a:r>
              <a:t>Board conclusions</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14 · Board conclusions</a:t>
            </a:r>
          </a:p>
        </p:txBody>
      </p:sp>
      <p:sp>
        <p:nvSpPr>
          <p:cNvPr id="5" name="TextBox 4"/>
          <p:cNvSpPr txBox="1"/>
          <p:nvPr/>
        </p:nvSpPr>
        <p:spPr>
          <a:xfrm>
            <a:off x="457200" y="960120"/>
            <a:ext cx="11277295" cy="256032"/>
          </a:xfrm>
          <a:prstGeom prst="rect">
            <a:avLst/>
          </a:prstGeom>
          <a:noFill/>
        </p:spPr>
        <p:txBody>
          <a:bodyPr wrap="square" anchor="t">
            <a:noAutofit/>
          </a:bodyPr>
          <a:lstStyle/>
          <a:p>
            <a:pPr>
              <a:defRPr sz="1200" b="1" i="0">
                <a:solidFill>
                  <a:srgbClr val="333333"/>
                </a:solidFill>
              </a:defRPr>
            </a:pPr>
            <a:r>
              <a:t>No significant pairwise difference detected (permutation p ≥ 0.05, among positive reporters)</a:t>
            </a:r>
          </a:p>
        </p:txBody>
      </p:sp>
      <p:sp>
        <p:nvSpPr>
          <p:cNvPr id="6" name="TextBox 5"/>
          <p:cNvSpPr txBox="1"/>
          <p:nvPr/>
        </p:nvSpPr>
        <p:spPr>
          <a:xfrm>
            <a:off x="457200" y="1307592"/>
            <a:ext cx="11277295" cy="256032"/>
          </a:xfrm>
          <a:prstGeom prst="rect">
            <a:avLst/>
          </a:prstGeom>
          <a:noFill/>
        </p:spPr>
        <p:txBody>
          <a:bodyPr wrap="square" anchor="t">
            <a:noAutofit/>
          </a:bodyPr>
          <a:lstStyle/>
          <a:p>
            <a:pPr>
              <a:defRPr sz="1100" b="0" i="0">
                <a:solidFill>
                  <a:srgbClr val="333333"/>
                </a:solidFill>
              </a:defRPr>
            </a:pPr>
            <a:r>
              <a:t>For these sources, none of the four Black Hills vs benchmark comparisons reached p &lt; 0.05 under the conditional median permutation test:</a:t>
            </a:r>
          </a:p>
        </p:txBody>
      </p:sp>
      <p:sp>
        <p:nvSpPr>
          <p:cNvPr id="7" name="TextBox 6"/>
          <p:cNvSpPr txBox="1"/>
          <p:nvPr/>
        </p:nvSpPr>
        <p:spPr>
          <a:xfrm>
            <a:off x="566928" y="1655064"/>
            <a:ext cx="11167567" cy="256032"/>
          </a:xfrm>
          <a:prstGeom prst="rect">
            <a:avLst/>
          </a:prstGeom>
          <a:noFill/>
        </p:spPr>
        <p:txBody>
          <a:bodyPr wrap="square">
            <a:spAutoFit/>
          </a:bodyPr>
          <a:lstStyle/>
          <a:p>
            <a:pPr>
              <a:defRPr sz="1100">
                <a:solidFill>
                  <a:srgbClr val="333333"/>
                </a:solidFill>
              </a:defRPr>
            </a:pPr>
            <a:r>
              <a:t>• Total revenue: vs Billings, Flagstaff, Sioux Falls, Missoula</a:t>
            </a:r>
          </a:p>
        </p:txBody>
      </p:sp>
      <p:sp>
        <p:nvSpPr>
          <p:cNvPr id="8" name="TextBox 7"/>
          <p:cNvSpPr txBox="1"/>
          <p:nvPr/>
        </p:nvSpPr>
        <p:spPr>
          <a:xfrm>
            <a:off x="566928" y="2002536"/>
            <a:ext cx="11167567" cy="256032"/>
          </a:xfrm>
          <a:prstGeom prst="rect">
            <a:avLst/>
          </a:prstGeom>
          <a:noFill/>
        </p:spPr>
        <p:txBody>
          <a:bodyPr wrap="square">
            <a:spAutoFit/>
          </a:bodyPr>
          <a:lstStyle/>
          <a:p>
            <a:pPr>
              <a:defRPr sz="1100">
                <a:solidFill>
                  <a:srgbClr val="333333"/>
                </a:solidFill>
              </a:defRPr>
            </a:pPr>
            <a:r>
              <a:t>• Program service revenue: vs Billings, Sioux Falls, Missoula</a:t>
            </a:r>
          </a:p>
        </p:txBody>
      </p:sp>
      <p:sp>
        <p:nvSpPr>
          <p:cNvPr id="9" name="TextBox 8"/>
          <p:cNvSpPr txBox="1"/>
          <p:nvPr/>
        </p:nvSpPr>
        <p:spPr>
          <a:xfrm>
            <a:off x="566928" y="2350008"/>
            <a:ext cx="11167567" cy="256032"/>
          </a:xfrm>
          <a:prstGeom prst="rect">
            <a:avLst/>
          </a:prstGeom>
          <a:noFill/>
        </p:spPr>
        <p:txBody>
          <a:bodyPr wrap="square">
            <a:spAutoFit/>
          </a:bodyPr>
          <a:lstStyle/>
          <a:p>
            <a:pPr>
              <a:defRPr sz="1100">
                <a:solidFill>
                  <a:srgbClr val="333333"/>
                </a:solidFill>
              </a:defRPr>
            </a:pPr>
            <a:r>
              <a:t>• Total contributions: vs Billings, Flagstaff, Sioux Falls, Missoula</a:t>
            </a:r>
          </a:p>
        </p:txBody>
      </p:sp>
      <p:sp>
        <p:nvSpPr>
          <p:cNvPr id="10" name="TextBox 9"/>
          <p:cNvSpPr txBox="1"/>
          <p:nvPr/>
        </p:nvSpPr>
        <p:spPr>
          <a:xfrm>
            <a:off x="566928" y="2697480"/>
            <a:ext cx="11167567" cy="256032"/>
          </a:xfrm>
          <a:prstGeom prst="rect">
            <a:avLst/>
          </a:prstGeom>
          <a:noFill/>
        </p:spPr>
        <p:txBody>
          <a:bodyPr wrap="square">
            <a:spAutoFit/>
          </a:bodyPr>
          <a:lstStyle/>
          <a:p>
            <a:pPr>
              <a:defRPr sz="1100">
                <a:solidFill>
                  <a:srgbClr val="333333"/>
                </a:solidFill>
              </a:defRPr>
            </a:pPr>
            <a:r>
              <a:t>• Government grants received: vs Sioux Falls, Missoula</a:t>
            </a:r>
          </a:p>
        </p:txBody>
      </p:sp>
      <p:sp>
        <p:nvSpPr>
          <p:cNvPr id="11" name="TextBox 10"/>
          <p:cNvSpPr txBox="1"/>
          <p:nvPr/>
        </p:nvSpPr>
        <p:spPr>
          <a:xfrm>
            <a:off x="566928" y="3044952"/>
            <a:ext cx="11167567" cy="256032"/>
          </a:xfrm>
          <a:prstGeom prst="rect">
            <a:avLst/>
          </a:prstGeom>
          <a:noFill/>
        </p:spPr>
        <p:txBody>
          <a:bodyPr wrap="square">
            <a:spAutoFit/>
          </a:bodyPr>
          <a:lstStyle/>
          <a:p>
            <a:pPr>
              <a:defRPr sz="1100">
                <a:solidFill>
                  <a:srgbClr val="333333"/>
                </a:solidFill>
              </a:defRPr>
            </a:pPr>
            <a:r>
              <a:t>• Federated campaign contributions: vs Billings, Flagstaff, Missoula</a:t>
            </a:r>
          </a:p>
        </p:txBody>
      </p:sp>
      <p:sp>
        <p:nvSpPr>
          <p:cNvPr id="12" name="TextBox 11"/>
          <p:cNvSpPr txBox="1"/>
          <p:nvPr/>
        </p:nvSpPr>
        <p:spPr>
          <a:xfrm>
            <a:off x="566928" y="3392424"/>
            <a:ext cx="11167567" cy="256032"/>
          </a:xfrm>
          <a:prstGeom prst="rect">
            <a:avLst/>
          </a:prstGeom>
          <a:noFill/>
        </p:spPr>
        <p:txBody>
          <a:bodyPr wrap="square">
            <a:spAutoFit/>
          </a:bodyPr>
          <a:lstStyle/>
          <a:p>
            <a:pPr>
              <a:defRPr sz="1100">
                <a:solidFill>
                  <a:srgbClr val="333333"/>
                </a:solidFill>
              </a:defRPr>
            </a:pPr>
            <a:r>
              <a:t>• Related organization contributions: vs Billings, Flagstaff, Sioux Falls, Missoula</a:t>
            </a:r>
          </a:p>
        </p:txBody>
      </p:sp>
      <p:sp>
        <p:nvSpPr>
          <p:cNvPr id="13" name="TextBox 12"/>
          <p:cNvSpPr txBox="1"/>
          <p:nvPr/>
        </p:nvSpPr>
        <p:spPr>
          <a:xfrm>
            <a:off x="566928" y="3739896"/>
            <a:ext cx="11167567" cy="256032"/>
          </a:xfrm>
          <a:prstGeom prst="rect">
            <a:avLst/>
          </a:prstGeom>
          <a:noFill/>
        </p:spPr>
        <p:txBody>
          <a:bodyPr wrap="square">
            <a:spAutoFit/>
          </a:bodyPr>
          <a:lstStyle/>
          <a:p>
            <a:pPr>
              <a:defRPr sz="1100">
                <a:solidFill>
                  <a:srgbClr val="333333"/>
                </a:solidFill>
              </a:defRPr>
            </a:pPr>
            <a:r>
              <a:t>• Membership dues: vs Billings, Flagstaff, Sioux Falls, Missoula</a:t>
            </a:r>
          </a:p>
        </p:txBody>
      </p:sp>
      <p:sp>
        <p:nvSpPr>
          <p:cNvPr id="14" name="TextBox 13"/>
          <p:cNvSpPr txBox="1"/>
          <p:nvPr/>
        </p:nvSpPr>
        <p:spPr>
          <a:xfrm>
            <a:off x="566928" y="4087368"/>
            <a:ext cx="11167567" cy="256032"/>
          </a:xfrm>
          <a:prstGeom prst="rect">
            <a:avLst/>
          </a:prstGeom>
          <a:noFill/>
        </p:spPr>
        <p:txBody>
          <a:bodyPr wrap="square">
            <a:spAutoFit/>
          </a:bodyPr>
          <a:lstStyle/>
          <a:p>
            <a:pPr>
              <a:defRPr sz="1100">
                <a:solidFill>
                  <a:srgbClr val="333333"/>
                </a:solidFill>
              </a:defRPr>
            </a:pPr>
            <a:r>
              <a:t>• Fundraising event contributions: vs Flagstaff</a:t>
            </a:r>
          </a:p>
        </p:txBody>
      </p:sp>
      <p:sp>
        <p:nvSpPr>
          <p:cNvPr id="15" name="TextBox 14"/>
          <p:cNvSpPr txBox="1"/>
          <p:nvPr/>
        </p:nvSpPr>
        <p:spPr>
          <a:xfrm>
            <a:off x="566928" y="4434840"/>
            <a:ext cx="11167567" cy="256032"/>
          </a:xfrm>
          <a:prstGeom prst="rect">
            <a:avLst/>
          </a:prstGeom>
          <a:noFill/>
        </p:spPr>
        <p:txBody>
          <a:bodyPr wrap="square">
            <a:spAutoFit/>
          </a:bodyPr>
          <a:lstStyle/>
          <a:p>
            <a:pPr>
              <a:defRPr sz="1100">
                <a:solidFill>
                  <a:srgbClr val="333333"/>
                </a:solidFill>
              </a:defRPr>
            </a:pPr>
            <a:r>
              <a:t>• Mixed / unclassified contributions: vs Billings, Sioux Falls, Missoula</a:t>
            </a:r>
          </a:p>
        </p:txBody>
      </p:sp>
      <p:sp>
        <p:nvSpPr>
          <p:cNvPr id="16" name="TextBox 15"/>
          <p:cNvSpPr txBox="1"/>
          <p:nvPr/>
        </p:nvSpPr>
        <p:spPr>
          <a:xfrm>
            <a:off x="566928" y="4782312"/>
            <a:ext cx="11167567" cy="256032"/>
          </a:xfrm>
          <a:prstGeom prst="rect">
            <a:avLst/>
          </a:prstGeom>
          <a:noFill/>
        </p:spPr>
        <p:txBody>
          <a:bodyPr wrap="square">
            <a:spAutoFit/>
          </a:bodyPr>
          <a:lstStyle/>
          <a:p>
            <a:pPr>
              <a:defRPr sz="1100">
                <a:solidFill>
                  <a:srgbClr val="333333"/>
                </a:solidFill>
              </a:defRPr>
            </a:pPr>
            <a:r>
              <a:t>• Other revenue: vs Flagstaff, Missoula</a:t>
            </a:r>
          </a:p>
        </p:txBody>
      </p:sp>
      <p:sp>
        <p:nvSpPr>
          <p:cNvPr id="17" name="TextBox 16"/>
          <p:cNvSpPr txBox="1"/>
          <p:nvPr/>
        </p:nvSpPr>
        <p:spPr>
          <a:xfrm>
            <a:off x="457200" y="5129784"/>
            <a:ext cx="11277295" cy="256032"/>
          </a:xfrm>
          <a:prstGeom prst="rect">
            <a:avLst/>
          </a:prstGeom>
          <a:noFill/>
        </p:spPr>
        <p:txBody>
          <a:bodyPr wrap="square" anchor="t">
            <a:noAutofit/>
          </a:bodyPr>
          <a:lstStyle/>
          <a:p>
            <a:pPr>
              <a:defRPr sz="1200" b="1" i="0">
                <a:solidFill>
                  <a:srgbClr val="333333"/>
                </a:solidFill>
              </a:defRPr>
            </a:pPr>
            <a:r>
              <a:t>How to state the conclusion to the board</a:t>
            </a:r>
          </a:p>
        </p:txBody>
      </p:sp>
      <p:sp>
        <p:nvSpPr>
          <p:cNvPr id="18" name="TextBox 17"/>
          <p:cNvSpPr txBox="1"/>
          <p:nvPr/>
        </p:nvSpPr>
        <p:spPr>
          <a:xfrm>
            <a:off x="457200" y="5477256"/>
            <a:ext cx="11277295" cy="377190"/>
          </a:xfrm>
          <a:prstGeom prst="rect">
            <a:avLst/>
          </a:prstGeom>
          <a:noFill/>
        </p:spPr>
        <p:txBody>
          <a:bodyPr wrap="square" anchor="t">
            <a:noAutofit/>
          </a:bodyPr>
          <a:lstStyle/>
          <a:p>
            <a:pPr>
              <a:defRPr sz="1100" b="0" i="0">
                <a:solidFill>
                  <a:srgbClr val="333333"/>
                </a:solidFill>
              </a:defRPr>
            </a:pPr>
            <a:r>
              <a:t>1. Revenue-source patterns are not the same everywhere. Several 2022 pairwise comparisons show statistically significant differences in dollar amounts among organizations that actually use a given source.</a:t>
            </a:r>
          </a:p>
        </p:txBody>
      </p:sp>
      <p:sp>
        <p:nvSpPr>
          <p:cNvPr id="19" name="TextBox 18"/>
          <p:cNvSpPr txBox="1"/>
          <p:nvPr/>
        </p:nvSpPr>
        <p:spPr>
          <a:xfrm>
            <a:off x="457200" y="5945886"/>
            <a:ext cx="11277295" cy="317754"/>
          </a:xfrm>
          <a:prstGeom prst="rect">
            <a:avLst/>
          </a:prstGeom>
          <a:noFill/>
        </p:spPr>
        <p:txBody>
          <a:bodyPr wrap="square" anchor="t">
            <a:noAutofit/>
          </a:bodyPr>
          <a:lstStyle/>
          <a:p>
            <a:pPr>
              <a:defRPr sz="1100" b="0" i="0">
                <a:solidFill>
                  <a:srgbClr val="333333"/>
                </a:solidFill>
              </a:defRPr>
            </a:pPr>
            <a:r>
              <a:t>2. Black Hills is often lower among reporters, not universally higher. Where this deck finds significance, the usual pattern is a lower median among Black Hills reporters than in the benchmark region being compared (for example program service revenue vs Flagstaff, government grants vs Flagstaff, fundraising events vs Billings and Sioux Falls, other revenue vs Billings and Sioux Falls).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457200"/>
          </a:xfrm>
          <a:prstGeom prst="rect">
            <a:avLst/>
          </a:prstGeom>
          <a:noFill/>
        </p:spPr>
        <p:txBody>
          <a:bodyPr wrap="none">
            <a:spAutoFit/>
          </a:bodyPr>
          <a:lstStyle/>
          <a:p>
            <a:pPr>
              <a:defRPr sz="2000" b="1">
                <a:solidFill>
                  <a:srgbClr val="FFFFFF"/>
                </a:solidFill>
              </a:defRPr>
            </a:pPr>
            <a:r>
              <a:t>Full answer — Is there a difference in revenue sources between Black Hills and benchmark regions?</a:t>
            </a:r>
          </a:p>
          <a:p>
            <a:pPr>
              <a:defRPr sz="1000">
                <a:solidFill>
                  <a:srgbClr val="D2DCEB"/>
                </a:solidFill>
              </a:defRPr>
            </a:pPr>
            <a:r>
              <a:t>Board conclusions (continued)</a:t>
            </a:r>
          </a:p>
        </p:txBody>
      </p:sp>
      <p:sp>
        <p:nvSpPr>
          <p:cNvPr id="4" name="TextBox 3"/>
          <p:cNvSpPr txBox="1"/>
          <p:nvPr/>
        </p:nvSpPr>
        <p:spPr>
          <a:xfrm>
            <a:off x="457200" y="6419088"/>
            <a:ext cx="11277295" cy="274320"/>
          </a:xfrm>
          <a:prstGeom prst="rect">
            <a:avLst/>
          </a:prstGeom>
          <a:noFill/>
        </p:spPr>
        <p:txBody>
          <a:bodyPr wrap="none">
            <a:spAutoFit/>
          </a:bodyPr>
          <a:lstStyle/>
          <a:p>
            <a:pPr algn="r">
              <a:defRPr sz="900">
                <a:solidFill>
                  <a:srgbClr val="666666"/>
                </a:solidFill>
              </a:defRPr>
            </a:pPr>
            <a:r>
              <a:t>Q9 2022 · 14 · Board conclusions (continued)</a:t>
            </a:r>
          </a:p>
        </p:txBody>
      </p:sp>
      <p:sp>
        <p:nvSpPr>
          <p:cNvPr id="5" name="TextBox 4"/>
          <p:cNvSpPr txBox="1"/>
          <p:nvPr/>
        </p:nvSpPr>
        <p:spPr>
          <a:xfrm>
            <a:off x="457200" y="960120"/>
            <a:ext cx="11277295" cy="565785"/>
          </a:xfrm>
          <a:prstGeom prst="rect">
            <a:avLst/>
          </a:prstGeom>
          <a:noFill/>
        </p:spPr>
        <p:txBody>
          <a:bodyPr wrap="square" anchor="t">
            <a:noAutofit/>
          </a:bodyPr>
          <a:lstStyle/>
          <a:p>
            <a:pPr>
              <a:defRPr sz="1100" b="0" i="0">
                <a:solidFill>
                  <a:srgbClr val="333333"/>
                </a:solidFill>
              </a:defRPr>
            </a:pPr>
            <a:r>
              <a:t>3. Participation and dollars can tell different stories. Black Hills sometimes has more organizations reporting a source (higher nonzero rate) while still showing a lower median among reporters on that same source. See client_2022_pairwise_presentation_summary.csv for reporting rates; do not describe a significant median gap as proof of higher participation without checking the rate.</a:t>
            </a:r>
          </a:p>
        </p:txBody>
      </p:sp>
      <p:sp>
        <p:nvSpPr>
          <p:cNvPr id="6" name="TextBox 5"/>
          <p:cNvSpPr txBox="1"/>
          <p:nvPr/>
        </p:nvSpPr>
        <p:spPr>
          <a:xfrm>
            <a:off x="457200" y="1617345"/>
            <a:ext cx="11277295" cy="377190"/>
          </a:xfrm>
          <a:prstGeom prst="rect">
            <a:avLst/>
          </a:prstGeom>
          <a:noFill/>
        </p:spPr>
        <p:txBody>
          <a:bodyPr wrap="square" anchor="t">
            <a:noAutofit/>
          </a:bodyPr>
          <a:lstStyle/>
          <a:p>
            <a:pPr>
              <a:defRPr sz="1100" b="0" i="0">
                <a:solidFill>
                  <a:srgbClr val="333333"/>
                </a:solidFill>
              </a:defRPr>
            </a:pPr>
            <a:r>
              <a:t>4. This deck does not replace the full Q9 report. The broader analysis in docs/Section3_Q9_Analysis.md covers additional tax years and alternative statistical framings. Use this presentation for 2022 pairwise, conditional-dollar comparisons.</a:t>
            </a:r>
          </a:p>
        </p:txBody>
      </p:sp>
      <p:sp>
        <p:nvSpPr>
          <p:cNvPr id="7" name="TextBox 6"/>
          <p:cNvSpPr txBox="1"/>
          <p:nvPr/>
        </p:nvSpPr>
        <p:spPr>
          <a:xfrm>
            <a:off x="457200" y="2085975"/>
            <a:ext cx="11277295" cy="256032"/>
          </a:xfrm>
          <a:prstGeom prst="rect">
            <a:avLst/>
          </a:prstGeom>
          <a:noFill/>
        </p:spPr>
        <p:txBody>
          <a:bodyPr wrap="square" anchor="t">
            <a:noAutofit/>
          </a:bodyPr>
          <a:lstStyle/>
          <a:p>
            <a:pPr>
              <a:defRPr sz="1200" b="1" i="0">
                <a:solidFill>
                  <a:srgbClr val="333333"/>
                </a:solidFill>
              </a:defRPr>
            </a:pPr>
            <a:r>
              <a:t>One-sentence takeaway</a:t>
            </a:r>
          </a:p>
        </p:txBody>
      </p:sp>
      <p:sp>
        <p:nvSpPr>
          <p:cNvPr id="8" name="TextBox 7"/>
          <p:cNvSpPr txBox="1"/>
          <p:nvPr/>
        </p:nvSpPr>
        <p:spPr>
          <a:xfrm>
            <a:off x="457200" y="2433447"/>
            <a:ext cx="11277295" cy="822960"/>
          </a:xfrm>
          <a:prstGeom prst="rect">
            <a:avLst/>
          </a:prstGeom>
          <a:noFill/>
        </p:spPr>
        <p:txBody>
          <a:bodyPr wrap="square" anchor="t">
            <a:noAutofit/>
          </a:bodyPr>
          <a:lstStyle/>
          <a:p>
            <a:pPr>
              <a:defRPr sz="1200" b="0" i="1">
                <a:solidFill>
                  <a:srgbClr val="333333"/>
                </a:solidFill>
              </a:defRPr>
            </a:pPr>
            <a:r>
              <a:t>Yes — in 2022, Black Hills differs from benchmark regions on multiple revenue sources (10 significant pairwise comparisons at permutation p &lt; 0.05 on the median dollar gap among positive reporters), especially where median dollars among reporters are lower than in Billings, Flagstaff, or Sioux Falls; the pattern is source-specific and should be read together with reporting rates and the full 2022–2024 Q9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